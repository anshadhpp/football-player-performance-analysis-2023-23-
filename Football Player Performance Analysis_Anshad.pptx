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6C28"/>
    <a:srgbClr val="507C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DC1A0-A2DA-F810-1B6C-D673DB45A6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741E359-15EB-1421-A54E-4600872DA6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2CA6B5-9712-063C-9DB2-B67429247EBB}"/>
              </a:ext>
            </a:extLst>
          </p:cNvPr>
          <p:cNvSpPr>
            <a:spLocks noGrp="1"/>
          </p:cNvSpPr>
          <p:nvPr>
            <p:ph type="dt" sz="half" idx="10"/>
          </p:nvPr>
        </p:nvSpPr>
        <p:spPr/>
        <p:txBody>
          <a:bodyPr/>
          <a:lstStyle/>
          <a:p>
            <a:fld id="{AC4B352C-3A5F-43C0-AA88-3616C52A067C}" type="datetimeFigureOut">
              <a:rPr lang="en-US" smtClean="0"/>
              <a:t>12/5/2025</a:t>
            </a:fld>
            <a:endParaRPr lang="en-US"/>
          </a:p>
        </p:txBody>
      </p:sp>
      <p:sp>
        <p:nvSpPr>
          <p:cNvPr id="5" name="Footer Placeholder 4">
            <a:extLst>
              <a:ext uri="{FF2B5EF4-FFF2-40B4-BE49-F238E27FC236}">
                <a16:creationId xmlns:a16="http://schemas.microsoft.com/office/drawing/2014/main" id="{73E614A2-1D11-106A-124F-F5D62AC36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D6F924-AD18-128C-E29B-823E5E9F9B87}"/>
              </a:ext>
            </a:extLst>
          </p:cNvPr>
          <p:cNvSpPr>
            <a:spLocks noGrp="1"/>
          </p:cNvSpPr>
          <p:nvPr>
            <p:ph type="sldNum" sz="quarter" idx="12"/>
          </p:nvPr>
        </p:nvSpPr>
        <p:spPr/>
        <p:txBody>
          <a:bodyPr/>
          <a:lstStyle/>
          <a:p>
            <a:fld id="{AC3535D2-E913-4914-840D-BA07F324496C}" type="slidenum">
              <a:rPr lang="en-US" smtClean="0"/>
              <a:t>‹#›</a:t>
            </a:fld>
            <a:endParaRPr lang="en-US"/>
          </a:p>
        </p:txBody>
      </p:sp>
    </p:spTree>
    <p:extLst>
      <p:ext uri="{BB962C8B-B14F-4D97-AF65-F5344CB8AC3E}">
        <p14:creationId xmlns:p14="http://schemas.microsoft.com/office/powerpoint/2010/main" val="1090394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24B73-4127-B3CC-A606-C657FBCC15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FC0AB9-1DD1-40A7-E0DA-CFFFBBBB36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20C4B0-29F1-7C28-C575-8DC80BD33971}"/>
              </a:ext>
            </a:extLst>
          </p:cNvPr>
          <p:cNvSpPr>
            <a:spLocks noGrp="1"/>
          </p:cNvSpPr>
          <p:nvPr>
            <p:ph type="dt" sz="half" idx="10"/>
          </p:nvPr>
        </p:nvSpPr>
        <p:spPr/>
        <p:txBody>
          <a:bodyPr/>
          <a:lstStyle/>
          <a:p>
            <a:fld id="{AC4B352C-3A5F-43C0-AA88-3616C52A067C}" type="datetimeFigureOut">
              <a:rPr lang="en-US" smtClean="0"/>
              <a:t>12/5/2025</a:t>
            </a:fld>
            <a:endParaRPr lang="en-US"/>
          </a:p>
        </p:txBody>
      </p:sp>
      <p:sp>
        <p:nvSpPr>
          <p:cNvPr id="5" name="Footer Placeholder 4">
            <a:extLst>
              <a:ext uri="{FF2B5EF4-FFF2-40B4-BE49-F238E27FC236}">
                <a16:creationId xmlns:a16="http://schemas.microsoft.com/office/drawing/2014/main" id="{2FC9247B-2F5F-7428-030E-4BB3A99650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81E606-A5B0-1A0B-F9AF-0CBDAFBFAF01}"/>
              </a:ext>
            </a:extLst>
          </p:cNvPr>
          <p:cNvSpPr>
            <a:spLocks noGrp="1"/>
          </p:cNvSpPr>
          <p:nvPr>
            <p:ph type="sldNum" sz="quarter" idx="12"/>
          </p:nvPr>
        </p:nvSpPr>
        <p:spPr/>
        <p:txBody>
          <a:bodyPr/>
          <a:lstStyle/>
          <a:p>
            <a:fld id="{AC3535D2-E913-4914-840D-BA07F324496C}" type="slidenum">
              <a:rPr lang="en-US" smtClean="0"/>
              <a:t>‹#›</a:t>
            </a:fld>
            <a:endParaRPr lang="en-US"/>
          </a:p>
        </p:txBody>
      </p:sp>
    </p:spTree>
    <p:extLst>
      <p:ext uri="{BB962C8B-B14F-4D97-AF65-F5344CB8AC3E}">
        <p14:creationId xmlns:p14="http://schemas.microsoft.com/office/powerpoint/2010/main" val="19912256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8710A-57BF-918A-B1BC-5B25379102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3711E8-4338-F409-00BD-C702A25EF1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EF969B-B9EB-9E77-A002-54EA2DB69BAB}"/>
              </a:ext>
            </a:extLst>
          </p:cNvPr>
          <p:cNvSpPr>
            <a:spLocks noGrp="1"/>
          </p:cNvSpPr>
          <p:nvPr>
            <p:ph type="dt" sz="half" idx="10"/>
          </p:nvPr>
        </p:nvSpPr>
        <p:spPr/>
        <p:txBody>
          <a:bodyPr/>
          <a:lstStyle/>
          <a:p>
            <a:fld id="{AC4B352C-3A5F-43C0-AA88-3616C52A067C}" type="datetimeFigureOut">
              <a:rPr lang="en-US" smtClean="0"/>
              <a:t>12/5/2025</a:t>
            </a:fld>
            <a:endParaRPr lang="en-US"/>
          </a:p>
        </p:txBody>
      </p:sp>
      <p:sp>
        <p:nvSpPr>
          <p:cNvPr id="5" name="Footer Placeholder 4">
            <a:extLst>
              <a:ext uri="{FF2B5EF4-FFF2-40B4-BE49-F238E27FC236}">
                <a16:creationId xmlns:a16="http://schemas.microsoft.com/office/drawing/2014/main" id="{0B91B4FF-4674-79C6-F426-74312641B9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69BD61-E389-1DE7-5E44-94F576D28E72}"/>
              </a:ext>
            </a:extLst>
          </p:cNvPr>
          <p:cNvSpPr>
            <a:spLocks noGrp="1"/>
          </p:cNvSpPr>
          <p:nvPr>
            <p:ph type="sldNum" sz="quarter" idx="12"/>
          </p:nvPr>
        </p:nvSpPr>
        <p:spPr/>
        <p:txBody>
          <a:bodyPr/>
          <a:lstStyle/>
          <a:p>
            <a:fld id="{AC3535D2-E913-4914-840D-BA07F324496C}" type="slidenum">
              <a:rPr lang="en-US" smtClean="0"/>
              <a:t>‹#›</a:t>
            </a:fld>
            <a:endParaRPr lang="en-US"/>
          </a:p>
        </p:txBody>
      </p:sp>
    </p:spTree>
    <p:extLst>
      <p:ext uri="{BB962C8B-B14F-4D97-AF65-F5344CB8AC3E}">
        <p14:creationId xmlns:p14="http://schemas.microsoft.com/office/powerpoint/2010/main" val="2222170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CCD2A-B963-77AA-030F-ED994BA0E0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4A0822-E7B3-F803-F9DF-88384640DB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B5DBE3A-D43F-C6EF-33D5-83590C7CF7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E9A70D-F735-86A0-5532-FFD9A0BC4510}"/>
              </a:ext>
            </a:extLst>
          </p:cNvPr>
          <p:cNvSpPr>
            <a:spLocks noGrp="1"/>
          </p:cNvSpPr>
          <p:nvPr>
            <p:ph type="dt" sz="half" idx="10"/>
          </p:nvPr>
        </p:nvSpPr>
        <p:spPr/>
        <p:txBody>
          <a:bodyPr/>
          <a:lstStyle/>
          <a:p>
            <a:fld id="{AC4B352C-3A5F-43C0-AA88-3616C52A067C}" type="datetimeFigureOut">
              <a:rPr lang="en-US" smtClean="0"/>
              <a:t>12/5/2025</a:t>
            </a:fld>
            <a:endParaRPr lang="en-US"/>
          </a:p>
        </p:txBody>
      </p:sp>
      <p:sp>
        <p:nvSpPr>
          <p:cNvPr id="6" name="Footer Placeholder 5">
            <a:extLst>
              <a:ext uri="{FF2B5EF4-FFF2-40B4-BE49-F238E27FC236}">
                <a16:creationId xmlns:a16="http://schemas.microsoft.com/office/drawing/2014/main" id="{AEBBE37C-C671-BFB1-BD3F-8F1C239BC9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64BBF7-292F-F54F-5980-6A02E4F0881B}"/>
              </a:ext>
            </a:extLst>
          </p:cNvPr>
          <p:cNvSpPr>
            <a:spLocks noGrp="1"/>
          </p:cNvSpPr>
          <p:nvPr>
            <p:ph type="sldNum" sz="quarter" idx="12"/>
          </p:nvPr>
        </p:nvSpPr>
        <p:spPr/>
        <p:txBody>
          <a:bodyPr/>
          <a:lstStyle/>
          <a:p>
            <a:fld id="{AC3535D2-E913-4914-840D-BA07F324496C}" type="slidenum">
              <a:rPr lang="en-US" smtClean="0"/>
              <a:t>‹#›</a:t>
            </a:fld>
            <a:endParaRPr lang="en-US"/>
          </a:p>
        </p:txBody>
      </p:sp>
    </p:spTree>
    <p:extLst>
      <p:ext uri="{BB962C8B-B14F-4D97-AF65-F5344CB8AC3E}">
        <p14:creationId xmlns:p14="http://schemas.microsoft.com/office/powerpoint/2010/main" val="772009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B75FC-E7A6-5464-55EB-7AE98E7D6D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EED1DCE-6EB3-127A-B991-D49A94F5EB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3DB8D1-2FFF-9F02-65FB-8B2DD795E8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21C444-9F9C-07EC-35B9-7CC10B4D19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4AE3B1-A6DB-9CE3-48E6-5457936C8B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A8A589D-C394-FBED-28A5-542E20975C7C}"/>
              </a:ext>
            </a:extLst>
          </p:cNvPr>
          <p:cNvSpPr>
            <a:spLocks noGrp="1"/>
          </p:cNvSpPr>
          <p:nvPr>
            <p:ph type="dt" sz="half" idx="10"/>
          </p:nvPr>
        </p:nvSpPr>
        <p:spPr/>
        <p:txBody>
          <a:bodyPr/>
          <a:lstStyle/>
          <a:p>
            <a:fld id="{AC4B352C-3A5F-43C0-AA88-3616C52A067C}" type="datetimeFigureOut">
              <a:rPr lang="en-US" smtClean="0"/>
              <a:t>12/5/2025</a:t>
            </a:fld>
            <a:endParaRPr lang="en-US"/>
          </a:p>
        </p:txBody>
      </p:sp>
      <p:sp>
        <p:nvSpPr>
          <p:cNvPr id="8" name="Footer Placeholder 7">
            <a:extLst>
              <a:ext uri="{FF2B5EF4-FFF2-40B4-BE49-F238E27FC236}">
                <a16:creationId xmlns:a16="http://schemas.microsoft.com/office/drawing/2014/main" id="{A454F1B0-D948-25F5-C7EB-4C3BBE110B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C0FA4F-085F-E737-E03E-DC9CF8C84B02}"/>
              </a:ext>
            </a:extLst>
          </p:cNvPr>
          <p:cNvSpPr>
            <a:spLocks noGrp="1"/>
          </p:cNvSpPr>
          <p:nvPr>
            <p:ph type="sldNum" sz="quarter" idx="12"/>
          </p:nvPr>
        </p:nvSpPr>
        <p:spPr/>
        <p:txBody>
          <a:bodyPr/>
          <a:lstStyle/>
          <a:p>
            <a:fld id="{AC3535D2-E913-4914-840D-BA07F324496C}" type="slidenum">
              <a:rPr lang="en-US" smtClean="0"/>
              <a:t>‹#›</a:t>
            </a:fld>
            <a:endParaRPr lang="en-US"/>
          </a:p>
        </p:txBody>
      </p:sp>
    </p:spTree>
    <p:extLst>
      <p:ext uri="{BB962C8B-B14F-4D97-AF65-F5344CB8AC3E}">
        <p14:creationId xmlns:p14="http://schemas.microsoft.com/office/powerpoint/2010/main" val="1237022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2D9D2-62BB-22FC-059F-59A09A7B7D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7FCB1CC-E52F-1C56-43AE-C7F2A2C0D031}"/>
              </a:ext>
            </a:extLst>
          </p:cNvPr>
          <p:cNvSpPr>
            <a:spLocks noGrp="1"/>
          </p:cNvSpPr>
          <p:nvPr>
            <p:ph type="dt" sz="half" idx="10"/>
          </p:nvPr>
        </p:nvSpPr>
        <p:spPr/>
        <p:txBody>
          <a:bodyPr/>
          <a:lstStyle/>
          <a:p>
            <a:fld id="{AC4B352C-3A5F-43C0-AA88-3616C52A067C}" type="datetimeFigureOut">
              <a:rPr lang="en-US" smtClean="0"/>
              <a:t>12/5/2025</a:t>
            </a:fld>
            <a:endParaRPr lang="en-US"/>
          </a:p>
        </p:txBody>
      </p:sp>
      <p:sp>
        <p:nvSpPr>
          <p:cNvPr id="4" name="Footer Placeholder 3">
            <a:extLst>
              <a:ext uri="{FF2B5EF4-FFF2-40B4-BE49-F238E27FC236}">
                <a16:creationId xmlns:a16="http://schemas.microsoft.com/office/drawing/2014/main" id="{39D21BD1-86D5-8F16-0CF3-B76F45563D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BF84CD-C35A-8A26-7020-D908084BF0A4}"/>
              </a:ext>
            </a:extLst>
          </p:cNvPr>
          <p:cNvSpPr>
            <a:spLocks noGrp="1"/>
          </p:cNvSpPr>
          <p:nvPr>
            <p:ph type="sldNum" sz="quarter" idx="12"/>
          </p:nvPr>
        </p:nvSpPr>
        <p:spPr/>
        <p:txBody>
          <a:bodyPr/>
          <a:lstStyle/>
          <a:p>
            <a:fld id="{AC3535D2-E913-4914-840D-BA07F324496C}" type="slidenum">
              <a:rPr lang="en-US" smtClean="0"/>
              <a:t>‹#›</a:t>
            </a:fld>
            <a:endParaRPr lang="en-US"/>
          </a:p>
        </p:txBody>
      </p:sp>
    </p:spTree>
    <p:extLst>
      <p:ext uri="{BB962C8B-B14F-4D97-AF65-F5344CB8AC3E}">
        <p14:creationId xmlns:p14="http://schemas.microsoft.com/office/powerpoint/2010/main" val="3604076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A1E798-9FFC-10FB-7CB0-090ECFF21E56}"/>
              </a:ext>
            </a:extLst>
          </p:cNvPr>
          <p:cNvSpPr>
            <a:spLocks noGrp="1"/>
          </p:cNvSpPr>
          <p:nvPr>
            <p:ph type="dt" sz="half" idx="10"/>
          </p:nvPr>
        </p:nvSpPr>
        <p:spPr/>
        <p:txBody>
          <a:bodyPr/>
          <a:lstStyle/>
          <a:p>
            <a:fld id="{AC4B352C-3A5F-43C0-AA88-3616C52A067C}" type="datetimeFigureOut">
              <a:rPr lang="en-US" smtClean="0"/>
              <a:t>12/5/2025</a:t>
            </a:fld>
            <a:endParaRPr lang="en-US"/>
          </a:p>
        </p:txBody>
      </p:sp>
      <p:sp>
        <p:nvSpPr>
          <p:cNvPr id="3" name="Footer Placeholder 2">
            <a:extLst>
              <a:ext uri="{FF2B5EF4-FFF2-40B4-BE49-F238E27FC236}">
                <a16:creationId xmlns:a16="http://schemas.microsoft.com/office/drawing/2014/main" id="{5A322EF4-CE4A-9C77-0213-F4972196E9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0D8229-3867-26AD-6260-62B6C5976523}"/>
              </a:ext>
            </a:extLst>
          </p:cNvPr>
          <p:cNvSpPr>
            <a:spLocks noGrp="1"/>
          </p:cNvSpPr>
          <p:nvPr>
            <p:ph type="sldNum" sz="quarter" idx="12"/>
          </p:nvPr>
        </p:nvSpPr>
        <p:spPr/>
        <p:txBody>
          <a:bodyPr/>
          <a:lstStyle/>
          <a:p>
            <a:fld id="{AC3535D2-E913-4914-840D-BA07F324496C}" type="slidenum">
              <a:rPr lang="en-US" smtClean="0"/>
              <a:t>‹#›</a:t>
            </a:fld>
            <a:endParaRPr lang="en-US"/>
          </a:p>
        </p:txBody>
      </p:sp>
    </p:spTree>
    <p:extLst>
      <p:ext uri="{BB962C8B-B14F-4D97-AF65-F5344CB8AC3E}">
        <p14:creationId xmlns:p14="http://schemas.microsoft.com/office/powerpoint/2010/main" val="1139121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828DC-6A1D-C124-6077-FCDE8B355E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576BD8-23E4-A416-8BA6-7ADEB193CA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56C6CD-94D9-C952-9E54-6E78DE62C4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E29F7D-8E05-3117-3E2C-528E01C06B8D}"/>
              </a:ext>
            </a:extLst>
          </p:cNvPr>
          <p:cNvSpPr>
            <a:spLocks noGrp="1"/>
          </p:cNvSpPr>
          <p:nvPr>
            <p:ph type="dt" sz="half" idx="10"/>
          </p:nvPr>
        </p:nvSpPr>
        <p:spPr/>
        <p:txBody>
          <a:bodyPr/>
          <a:lstStyle/>
          <a:p>
            <a:fld id="{AC4B352C-3A5F-43C0-AA88-3616C52A067C}" type="datetimeFigureOut">
              <a:rPr lang="en-US" smtClean="0"/>
              <a:t>12/5/2025</a:t>
            </a:fld>
            <a:endParaRPr lang="en-US"/>
          </a:p>
        </p:txBody>
      </p:sp>
      <p:sp>
        <p:nvSpPr>
          <p:cNvPr id="6" name="Footer Placeholder 5">
            <a:extLst>
              <a:ext uri="{FF2B5EF4-FFF2-40B4-BE49-F238E27FC236}">
                <a16:creationId xmlns:a16="http://schemas.microsoft.com/office/drawing/2014/main" id="{74216C79-3526-88A1-67B2-AAA475DC04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52B7A6-B043-A097-0F6E-CE59B58F8D6A}"/>
              </a:ext>
            </a:extLst>
          </p:cNvPr>
          <p:cNvSpPr>
            <a:spLocks noGrp="1"/>
          </p:cNvSpPr>
          <p:nvPr>
            <p:ph type="sldNum" sz="quarter" idx="12"/>
          </p:nvPr>
        </p:nvSpPr>
        <p:spPr/>
        <p:txBody>
          <a:bodyPr/>
          <a:lstStyle/>
          <a:p>
            <a:fld id="{AC3535D2-E913-4914-840D-BA07F324496C}" type="slidenum">
              <a:rPr lang="en-US" smtClean="0"/>
              <a:t>‹#›</a:t>
            </a:fld>
            <a:endParaRPr lang="en-US"/>
          </a:p>
        </p:txBody>
      </p:sp>
    </p:spTree>
    <p:extLst>
      <p:ext uri="{BB962C8B-B14F-4D97-AF65-F5344CB8AC3E}">
        <p14:creationId xmlns:p14="http://schemas.microsoft.com/office/powerpoint/2010/main" val="3638188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087BF-285F-D22A-6050-D8A8C33DEC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4E45967-CA85-950C-DD38-80CBC83CE3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83F092-C5E7-4656-B086-D279360062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A32009-1323-89B4-F547-FCCD30B6DC18}"/>
              </a:ext>
            </a:extLst>
          </p:cNvPr>
          <p:cNvSpPr>
            <a:spLocks noGrp="1"/>
          </p:cNvSpPr>
          <p:nvPr>
            <p:ph type="dt" sz="half" idx="10"/>
          </p:nvPr>
        </p:nvSpPr>
        <p:spPr/>
        <p:txBody>
          <a:bodyPr/>
          <a:lstStyle/>
          <a:p>
            <a:fld id="{AC4B352C-3A5F-43C0-AA88-3616C52A067C}" type="datetimeFigureOut">
              <a:rPr lang="en-US" smtClean="0"/>
              <a:t>12/5/2025</a:t>
            </a:fld>
            <a:endParaRPr lang="en-US"/>
          </a:p>
        </p:txBody>
      </p:sp>
      <p:sp>
        <p:nvSpPr>
          <p:cNvPr id="6" name="Footer Placeholder 5">
            <a:extLst>
              <a:ext uri="{FF2B5EF4-FFF2-40B4-BE49-F238E27FC236}">
                <a16:creationId xmlns:a16="http://schemas.microsoft.com/office/drawing/2014/main" id="{22294189-480F-6911-C87F-0C0DDFAC76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650F2A-35BD-0394-F425-CA28719C55B0}"/>
              </a:ext>
            </a:extLst>
          </p:cNvPr>
          <p:cNvSpPr>
            <a:spLocks noGrp="1"/>
          </p:cNvSpPr>
          <p:nvPr>
            <p:ph type="sldNum" sz="quarter" idx="12"/>
          </p:nvPr>
        </p:nvSpPr>
        <p:spPr/>
        <p:txBody>
          <a:bodyPr/>
          <a:lstStyle/>
          <a:p>
            <a:fld id="{AC3535D2-E913-4914-840D-BA07F324496C}" type="slidenum">
              <a:rPr lang="en-US" smtClean="0"/>
              <a:t>‹#›</a:t>
            </a:fld>
            <a:endParaRPr lang="en-US"/>
          </a:p>
        </p:txBody>
      </p:sp>
    </p:spTree>
    <p:extLst>
      <p:ext uri="{BB962C8B-B14F-4D97-AF65-F5344CB8AC3E}">
        <p14:creationId xmlns:p14="http://schemas.microsoft.com/office/powerpoint/2010/main" val="3195060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D621D-1795-8035-A154-6AB6A61EF58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2A48CA-95FF-AC6B-1630-942FCC20D1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F8B10D-4021-3444-0324-EC5E250EB5E4}"/>
              </a:ext>
            </a:extLst>
          </p:cNvPr>
          <p:cNvSpPr>
            <a:spLocks noGrp="1"/>
          </p:cNvSpPr>
          <p:nvPr>
            <p:ph type="dt" sz="half" idx="10"/>
          </p:nvPr>
        </p:nvSpPr>
        <p:spPr/>
        <p:txBody>
          <a:bodyPr/>
          <a:lstStyle/>
          <a:p>
            <a:fld id="{AC4B352C-3A5F-43C0-AA88-3616C52A067C}" type="datetimeFigureOut">
              <a:rPr lang="en-US" smtClean="0"/>
              <a:t>12/5/2025</a:t>
            </a:fld>
            <a:endParaRPr lang="en-US"/>
          </a:p>
        </p:txBody>
      </p:sp>
      <p:sp>
        <p:nvSpPr>
          <p:cNvPr id="5" name="Footer Placeholder 4">
            <a:extLst>
              <a:ext uri="{FF2B5EF4-FFF2-40B4-BE49-F238E27FC236}">
                <a16:creationId xmlns:a16="http://schemas.microsoft.com/office/drawing/2014/main" id="{E3102D77-8151-B73B-255C-01DBAAF3C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B0EAED-5397-F8D5-715E-FFBB021BD63C}"/>
              </a:ext>
            </a:extLst>
          </p:cNvPr>
          <p:cNvSpPr>
            <a:spLocks noGrp="1"/>
          </p:cNvSpPr>
          <p:nvPr>
            <p:ph type="sldNum" sz="quarter" idx="12"/>
          </p:nvPr>
        </p:nvSpPr>
        <p:spPr/>
        <p:txBody>
          <a:bodyPr/>
          <a:lstStyle/>
          <a:p>
            <a:fld id="{AC3535D2-E913-4914-840D-BA07F324496C}" type="slidenum">
              <a:rPr lang="en-US" smtClean="0"/>
              <a:t>‹#›</a:t>
            </a:fld>
            <a:endParaRPr lang="en-US"/>
          </a:p>
        </p:txBody>
      </p:sp>
    </p:spTree>
    <p:extLst>
      <p:ext uri="{BB962C8B-B14F-4D97-AF65-F5344CB8AC3E}">
        <p14:creationId xmlns:p14="http://schemas.microsoft.com/office/powerpoint/2010/main" val="1996884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12ADAC-6F99-2A31-9684-F4D6F8497F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1DF2A8-DBBC-E795-2C43-4C8BECA825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B8282C-1CC0-02D4-C56F-FE188BB87F79}"/>
              </a:ext>
            </a:extLst>
          </p:cNvPr>
          <p:cNvSpPr>
            <a:spLocks noGrp="1"/>
          </p:cNvSpPr>
          <p:nvPr>
            <p:ph type="dt" sz="half" idx="10"/>
          </p:nvPr>
        </p:nvSpPr>
        <p:spPr/>
        <p:txBody>
          <a:bodyPr/>
          <a:lstStyle/>
          <a:p>
            <a:fld id="{AC4B352C-3A5F-43C0-AA88-3616C52A067C}" type="datetimeFigureOut">
              <a:rPr lang="en-US" smtClean="0"/>
              <a:t>12/5/2025</a:t>
            </a:fld>
            <a:endParaRPr lang="en-US"/>
          </a:p>
        </p:txBody>
      </p:sp>
      <p:sp>
        <p:nvSpPr>
          <p:cNvPr id="5" name="Footer Placeholder 4">
            <a:extLst>
              <a:ext uri="{FF2B5EF4-FFF2-40B4-BE49-F238E27FC236}">
                <a16:creationId xmlns:a16="http://schemas.microsoft.com/office/drawing/2014/main" id="{4A95B7FF-7286-94F5-13E8-B1A9C1D1C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5838B5-7015-477A-E8C5-C8D42D54BBAB}"/>
              </a:ext>
            </a:extLst>
          </p:cNvPr>
          <p:cNvSpPr>
            <a:spLocks noGrp="1"/>
          </p:cNvSpPr>
          <p:nvPr>
            <p:ph type="sldNum" sz="quarter" idx="12"/>
          </p:nvPr>
        </p:nvSpPr>
        <p:spPr/>
        <p:txBody>
          <a:bodyPr/>
          <a:lstStyle/>
          <a:p>
            <a:fld id="{AC3535D2-E913-4914-840D-BA07F324496C}" type="slidenum">
              <a:rPr lang="en-US" smtClean="0"/>
              <a:t>‹#›</a:t>
            </a:fld>
            <a:endParaRPr lang="en-US"/>
          </a:p>
        </p:txBody>
      </p:sp>
    </p:spTree>
    <p:extLst>
      <p:ext uri="{BB962C8B-B14F-4D97-AF65-F5344CB8AC3E}">
        <p14:creationId xmlns:p14="http://schemas.microsoft.com/office/powerpoint/2010/main" val="3824872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9F7B2C-5EC5-B296-070A-710CD6ED2B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7E18A8-9A84-1638-94B7-01C2782C66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5D2B02-EC7E-95AC-E641-2AC70A4B86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4B352C-3A5F-43C0-AA88-3616C52A067C}" type="datetimeFigureOut">
              <a:rPr lang="en-US" smtClean="0"/>
              <a:t>12/5/2025</a:t>
            </a:fld>
            <a:endParaRPr lang="en-US"/>
          </a:p>
        </p:txBody>
      </p:sp>
      <p:sp>
        <p:nvSpPr>
          <p:cNvPr id="5" name="Footer Placeholder 4">
            <a:extLst>
              <a:ext uri="{FF2B5EF4-FFF2-40B4-BE49-F238E27FC236}">
                <a16:creationId xmlns:a16="http://schemas.microsoft.com/office/drawing/2014/main" id="{C6FF77D7-451D-28C6-E430-AB43CB6CB7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5F5D72-FCB0-6C09-E0F9-E55BBF74ED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535D2-E913-4914-840D-BA07F324496C}" type="slidenum">
              <a:rPr lang="en-US" smtClean="0"/>
              <a:t>‹#›</a:t>
            </a:fld>
            <a:endParaRPr lang="en-US"/>
          </a:p>
        </p:txBody>
      </p:sp>
    </p:spTree>
    <p:extLst>
      <p:ext uri="{BB962C8B-B14F-4D97-AF65-F5344CB8AC3E}">
        <p14:creationId xmlns:p14="http://schemas.microsoft.com/office/powerpoint/2010/main" val="16319071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artisticCrisscrossEtching trans="9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DEFBB-86FE-DC8F-CA38-22B22D7CA49C}"/>
              </a:ext>
            </a:extLst>
          </p:cNvPr>
          <p:cNvSpPr>
            <a:spLocks noGrp="1"/>
          </p:cNvSpPr>
          <p:nvPr>
            <p:ph type="ctrTitle"/>
          </p:nvPr>
        </p:nvSpPr>
        <p:spPr/>
        <p:txBody>
          <a:bodyPr>
            <a:normAutofit fontScale="90000"/>
          </a:bodyPr>
          <a:lstStyle/>
          <a:p>
            <a:r>
              <a:rPr lang="en-US" b="1" dirty="0">
                <a:solidFill>
                  <a:schemeClr val="bg1"/>
                </a:solidFill>
                <a:latin typeface="Arial Black" panose="020B0A04020102020204" pitchFamily="34" charset="0"/>
              </a:rPr>
              <a:t>Football Player </a:t>
            </a:r>
            <a:br>
              <a:rPr lang="en-US" b="1" dirty="0">
                <a:solidFill>
                  <a:schemeClr val="bg1"/>
                </a:solidFill>
                <a:latin typeface="Arial Black" panose="020B0A04020102020204" pitchFamily="34" charset="0"/>
              </a:rPr>
            </a:br>
            <a:r>
              <a:rPr lang="en-US" b="1" dirty="0">
                <a:solidFill>
                  <a:schemeClr val="bg1"/>
                </a:solidFill>
                <a:latin typeface="Arial Black" panose="020B0A04020102020204" pitchFamily="34" charset="0"/>
              </a:rPr>
              <a:t>Performance Analysis</a:t>
            </a:r>
          </a:p>
        </p:txBody>
      </p:sp>
      <p:sp>
        <p:nvSpPr>
          <p:cNvPr id="3" name="Subtitle 2">
            <a:extLst>
              <a:ext uri="{FF2B5EF4-FFF2-40B4-BE49-F238E27FC236}">
                <a16:creationId xmlns:a16="http://schemas.microsoft.com/office/drawing/2014/main" id="{DFD6EEE1-3D7D-D292-F7C2-9CF068CCEC0C}"/>
              </a:ext>
            </a:extLst>
          </p:cNvPr>
          <p:cNvSpPr>
            <a:spLocks noGrp="1"/>
          </p:cNvSpPr>
          <p:nvPr>
            <p:ph type="subTitle" idx="1"/>
          </p:nvPr>
        </p:nvSpPr>
        <p:spPr>
          <a:xfrm>
            <a:off x="1524000" y="3429000"/>
            <a:ext cx="9144000" cy="504136"/>
          </a:xfrm>
        </p:spPr>
        <p:txBody>
          <a:bodyPr/>
          <a:lstStyle/>
          <a:p>
            <a:r>
              <a:rPr lang="en-US" b="1" dirty="0">
                <a:solidFill>
                  <a:srgbClr val="FFFF00"/>
                </a:solidFill>
              </a:rPr>
              <a:t>Top 5 European Leagues — Season 2022–23</a:t>
            </a:r>
            <a:endParaRPr lang="en-US" dirty="0">
              <a:solidFill>
                <a:srgbClr val="FFFF00"/>
              </a:solidFill>
            </a:endParaRPr>
          </a:p>
        </p:txBody>
      </p:sp>
      <p:sp>
        <p:nvSpPr>
          <p:cNvPr id="4" name="TextBox 3">
            <a:extLst>
              <a:ext uri="{FF2B5EF4-FFF2-40B4-BE49-F238E27FC236}">
                <a16:creationId xmlns:a16="http://schemas.microsoft.com/office/drawing/2014/main" id="{FFC45DBB-36DD-5B52-65A6-E220D93BCB9F}"/>
              </a:ext>
            </a:extLst>
          </p:cNvPr>
          <p:cNvSpPr txBox="1"/>
          <p:nvPr/>
        </p:nvSpPr>
        <p:spPr>
          <a:xfrm>
            <a:off x="495300" y="5457825"/>
            <a:ext cx="2533650" cy="923330"/>
          </a:xfrm>
          <a:prstGeom prst="rect">
            <a:avLst/>
          </a:prstGeom>
          <a:noFill/>
        </p:spPr>
        <p:txBody>
          <a:bodyPr wrap="square" rtlCol="0">
            <a:spAutoFit/>
          </a:bodyPr>
          <a:lstStyle/>
          <a:p>
            <a:r>
              <a:rPr lang="en-US" dirty="0">
                <a:solidFill>
                  <a:schemeClr val="bg1"/>
                </a:solidFill>
              </a:rPr>
              <a:t>Presented by:</a:t>
            </a:r>
          </a:p>
          <a:p>
            <a:r>
              <a:rPr lang="en-US" dirty="0">
                <a:solidFill>
                  <a:srgbClr val="FFFF00"/>
                </a:solidFill>
              </a:rPr>
              <a:t>Anshad P </a:t>
            </a:r>
            <a:r>
              <a:rPr lang="en-US" dirty="0" err="1">
                <a:solidFill>
                  <a:srgbClr val="FFFF00"/>
                </a:solidFill>
              </a:rPr>
              <a:t>P</a:t>
            </a:r>
            <a:br>
              <a:rPr lang="en-US" dirty="0">
                <a:solidFill>
                  <a:srgbClr val="FFFF00"/>
                </a:solidFill>
              </a:rPr>
            </a:br>
            <a:r>
              <a:rPr lang="en-US" dirty="0">
                <a:solidFill>
                  <a:srgbClr val="FFFF00"/>
                </a:solidFill>
              </a:rPr>
              <a:t>anshaddhpp@gmai.com</a:t>
            </a:r>
          </a:p>
        </p:txBody>
      </p:sp>
    </p:spTree>
    <p:extLst>
      <p:ext uri="{BB962C8B-B14F-4D97-AF65-F5344CB8AC3E}">
        <p14:creationId xmlns:p14="http://schemas.microsoft.com/office/powerpoint/2010/main" val="651269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1C68C-5635-58BE-0E00-98F284ED49F4}"/>
              </a:ext>
            </a:extLst>
          </p:cNvPr>
          <p:cNvSpPr>
            <a:spLocks noGrp="1"/>
          </p:cNvSpPr>
          <p:nvPr>
            <p:ph type="title"/>
          </p:nvPr>
        </p:nvSpPr>
        <p:spPr>
          <a:xfrm>
            <a:off x="838199" y="365125"/>
            <a:ext cx="10563225" cy="1325563"/>
          </a:xfrm>
        </p:spPr>
        <p:txBody>
          <a:bodyPr/>
          <a:lstStyle/>
          <a:p>
            <a:r>
              <a:rPr lang="en-US" b="1" dirty="0">
                <a:solidFill>
                  <a:srgbClr val="00B050"/>
                </a:solidFill>
                <a:latin typeface="Arial Black" panose="020B0A04020102020204" pitchFamily="34" charset="0"/>
              </a:rPr>
              <a:t>Introduction</a:t>
            </a:r>
          </a:p>
        </p:txBody>
      </p:sp>
      <p:sp>
        <p:nvSpPr>
          <p:cNvPr id="5" name="Rectangle 4">
            <a:extLst>
              <a:ext uri="{FF2B5EF4-FFF2-40B4-BE49-F238E27FC236}">
                <a16:creationId xmlns:a16="http://schemas.microsoft.com/office/drawing/2014/main" id="{E26B62E7-029A-46DE-9113-B2F823CAC6BF}"/>
              </a:ext>
            </a:extLst>
          </p:cNvPr>
          <p:cNvSpPr/>
          <p:nvPr/>
        </p:nvSpPr>
        <p:spPr>
          <a:xfrm>
            <a:off x="0" y="1533525"/>
            <a:ext cx="12192000" cy="5324475"/>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C870FC5-E2F7-4358-EC0B-0DEDCB4BBA3A}"/>
              </a:ext>
            </a:extLst>
          </p:cNvPr>
          <p:cNvSpPr>
            <a:spLocks noGrp="1"/>
          </p:cNvSpPr>
          <p:nvPr>
            <p:ph idx="1"/>
          </p:nvPr>
        </p:nvSpPr>
        <p:spPr/>
        <p:txBody>
          <a:bodyPr/>
          <a:lstStyle/>
          <a:p>
            <a:pPr>
              <a:buFont typeface="Courier New" panose="02070309020205020404" pitchFamily="49" charset="0"/>
              <a:buChar char="o"/>
            </a:pPr>
            <a:r>
              <a:rPr lang="en-US" dirty="0">
                <a:solidFill>
                  <a:schemeClr val="bg1"/>
                </a:solidFill>
              </a:rPr>
              <a:t>This project analyzes individual player performance across the top five European football leagues during the 2022–23 season. By using Power BI, I transformed the raw player statistics into interactive visual insights. The dashboard highlights goals, assists, match participation, and other key indicators that help identify top performers, compare leagues, and evaluate squad contributions.</a:t>
            </a:r>
          </a:p>
          <a:p>
            <a:pPr>
              <a:buFont typeface="Courier New" panose="02070309020205020404" pitchFamily="49" charset="0"/>
              <a:buChar char="o"/>
            </a:pPr>
            <a:r>
              <a:rPr lang="en-US" dirty="0">
                <a:solidFill>
                  <a:schemeClr val="bg1"/>
                </a:solidFill>
              </a:rPr>
              <a:t>The visualizations offer a comprehensive view of how players and teams performed across Europe’s most competitive leagues.</a:t>
            </a:r>
          </a:p>
        </p:txBody>
      </p:sp>
      <p:sp>
        <p:nvSpPr>
          <p:cNvPr id="6" name="Rectangle 5">
            <a:extLst>
              <a:ext uri="{FF2B5EF4-FFF2-40B4-BE49-F238E27FC236}">
                <a16:creationId xmlns:a16="http://schemas.microsoft.com/office/drawing/2014/main" id="{3044A126-7C8F-1884-8161-A2AE271E0093}"/>
              </a:ext>
            </a:extLst>
          </p:cNvPr>
          <p:cNvSpPr/>
          <p:nvPr/>
        </p:nvSpPr>
        <p:spPr>
          <a:xfrm>
            <a:off x="261937" y="1521619"/>
            <a:ext cx="11668125" cy="495935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456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F49BB1-07B8-D4A5-514D-E26E02AA458E}"/>
              </a:ext>
            </a:extLst>
          </p:cNvPr>
          <p:cNvSpPr/>
          <p:nvPr/>
        </p:nvSpPr>
        <p:spPr>
          <a:xfrm>
            <a:off x="0" y="-542925"/>
            <a:ext cx="12192000" cy="3286125"/>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44ABE0D-C683-8994-2188-7D0F56DF340E}"/>
              </a:ext>
            </a:extLst>
          </p:cNvPr>
          <p:cNvSpPr/>
          <p:nvPr/>
        </p:nvSpPr>
        <p:spPr>
          <a:xfrm>
            <a:off x="0" y="2743200"/>
            <a:ext cx="5724525" cy="41148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00D7445-E865-759D-F01B-11C6B127ECB5}"/>
              </a:ext>
            </a:extLst>
          </p:cNvPr>
          <p:cNvSpPr>
            <a:spLocks noGrp="1"/>
          </p:cNvSpPr>
          <p:nvPr>
            <p:ph idx="1"/>
          </p:nvPr>
        </p:nvSpPr>
        <p:spPr>
          <a:xfrm>
            <a:off x="376237" y="335280"/>
            <a:ext cx="11439525" cy="5970270"/>
          </a:xfrm>
        </p:spPr>
        <p:txBody>
          <a:bodyPr lIns="144000" tIns="108000" rIns="0" numCol="2">
            <a:normAutofit/>
          </a:bodyPr>
          <a:lstStyle/>
          <a:p>
            <a:pPr marL="0" indent="0">
              <a:lnSpc>
                <a:spcPct val="100000"/>
              </a:lnSpc>
              <a:buNone/>
            </a:pPr>
            <a:r>
              <a:rPr lang="en-US" sz="2000" b="1" dirty="0">
                <a:solidFill>
                  <a:srgbClr val="FFFF00"/>
                </a:solidFill>
              </a:rPr>
              <a:t>The dataset contains player-level statistics from the Top 5 European football leagues for the 2022–23 season:</a:t>
            </a:r>
          </a:p>
          <a:p>
            <a:pPr marL="0" indent="0">
              <a:lnSpc>
                <a:spcPct val="100000"/>
              </a:lnSpc>
              <a:spcBef>
                <a:spcPts val="0"/>
              </a:spcBef>
              <a:buFont typeface="Arial" panose="020B0604020202020204" pitchFamily="34" charset="0"/>
              <a:buChar char="•"/>
            </a:pPr>
            <a:r>
              <a:rPr lang="en-US" sz="2000" dirty="0">
                <a:solidFill>
                  <a:schemeClr val="bg1"/>
                </a:solidFill>
              </a:rPr>
              <a:t>Premier League</a:t>
            </a:r>
          </a:p>
          <a:p>
            <a:pPr marL="0" indent="0">
              <a:lnSpc>
                <a:spcPct val="100000"/>
              </a:lnSpc>
              <a:spcBef>
                <a:spcPts val="0"/>
              </a:spcBef>
              <a:buFont typeface="Arial" panose="020B0604020202020204" pitchFamily="34" charset="0"/>
              <a:buChar char="•"/>
            </a:pPr>
            <a:r>
              <a:rPr lang="en-US" sz="2000" dirty="0">
                <a:solidFill>
                  <a:schemeClr val="bg1"/>
                </a:solidFill>
              </a:rPr>
              <a:t>La Liga</a:t>
            </a:r>
          </a:p>
          <a:p>
            <a:pPr marL="0" indent="0">
              <a:lnSpc>
                <a:spcPct val="100000"/>
              </a:lnSpc>
              <a:spcBef>
                <a:spcPts val="0"/>
              </a:spcBef>
              <a:buFont typeface="Arial" panose="020B0604020202020204" pitchFamily="34" charset="0"/>
              <a:buChar char="•"/>
            </a:pPr>
            <a:r>
              <a:rPr lang="en-US" sz="2000" dirty="0">
                <a:solidFill>
                  <a:schemeClr val="bg1"/>
                </a:solidFill>
              </a:rPr>
              <a:t>Serie A</a:t>
            </a:r>
          </a:p>
          <a:p>
            <a:pPr marL="0" indent="0">
              <a:lnSpc>
                <a:spcPct val="100000"/>
              </a:lnSpc>
              <a:spcBef>
                <a:spcPts val="0"/>
              </a:spcBef>
              <a:buFont typeface="Arial" panose="020B0604020202020204" pitchFamily="34" charset="0"/>
              <a:buChar char="•"/>
            </a:pPr>
            <a:r>
              <a:rPr lang="en-US" sz="2000" dirty="0">
                <a:solidFill>
                  <a:schemeClr val="bg1"/>
                </a:solidFill>
              </a:rPr>
              <a:t>Bundesliga</a:t>
            </a:r>
          </a:p>
          <a:p>
            <a:pPr marL="0" indent="0">
              <a:lnSpc>
                <a:spcPct val="100000"/>
              </a:lnSpc>
              <a:spcBef>
                <a:spcPts val="0"/>
              </a:spcBef>
              <a:buFont typeface="Arial" panose="020B0604020202020204" pitchFamily="34" charset="0"/>
              <a:buChar char="•"/>
            </a:pPr>
            <a:r>
              <a:rPr lang="en-US" sz="2000" dirty="0">
                <a:solidFill>
                  <a:schemeClr val="bg1"/>
                </a:solidFill>
              </a:rPr>
              <a:t>Ligue 1</a:t>
            </a:r>
          </a:p>
          <a:p>
            <a:pPr marL="0" indent="0">
              <a:lnSpc>
                <a:spcPct val="100000"/>
              </a:lnSpc>
              <a:spcBef>
                <a:spcPts val="0"/>
              </a:spcBef>
              <a:buNone/>
            </a:pPr>
            <a:endParaRPr lang="en-GB" sz="2000" b="1" dirty="0">
              <a:solidFill>
                <a:schemeClr val="bg1"/>
              </a:solidFill>
              <a:latin typeface="Aptos" panose="020B0604020202020204" pitchFamily="34" charset="0"/>
            </a:endParaRPr>
          </a:p>
          <a:p>
            <a:pPr marL="0" indent="0" rtl="0" fontAlgn="base">
              <a:buNone/>
            </a:pPr>
            <a:r>
              <a:rPr lang="en-GB" sz="2000" b="1" i="0" dirty="0">
                <a:solidFill>
                  <a:srgbClr val="FFFF00"/>
                </a:solidFill>
                <a:effectLst/>
                <a:latin typeface="Aptos" panose="020B0604020202020204" pitchFamily="34" charset="0"/>
              </a:rPr>
              <a:t>Key fields included:</a:t>
            </a:r>
            <a:r>
              <a:rPr lang="en-GB" sz="2000" b="0" i="0" dirty="0">
                <a:solidFill>
                  <a:srgbClr val="FFFF00"/>
                </a:solidFill>
                <a:effectLst/>
                <a:latin typeface="Aptos" panose="020B0604020202020204" pitchFamily="34" charset="0"/>
              </a:rPr>
              <a:t> </a:t>
            </a:r>
            <a:endParaRPr lang="en-GB" sz="2000" b="0" i="0" dirty="0">
              <a:solidFill>
                <a:srgbClr val="FFFF00"/>
              </a:solidFill>
              <a:effectLst/>
              <a:latin typeface="Segoe UI" panose="020B0502040204020203" pitchFamily="34" charset="0"/>
            </a:endParaRPr>
          </a:p>
          <a:p>
            <a:pPr marL="0" indent="0" rtl="0" fontAlgn="base">
              <a:lnSpc>
                <a:spcPct val="100000"/>
              </a:lnSpc>
              <a:spcBef>
                <a:spcPts val="0"/>
              </a:spcBef>
              <a:buFont typeface="Arial" panose="020B0604020202020204" pitchFamily="34" charset="0"/>
              <a:buChar char="•"/>
            </a:pPr>
            <a:r>
              <a:rPr lang="en-GB" sz="2000" i="0" dirty="0">
                <a:solidFill>
                  <a:schemeClr val="bg1"/>
                </a:solidFill>
                <a:effectLst/>
                <a:latin typeface="Aptos" panose="020B0604020202020204" pitchFamily="34" charset="0"/>
              </a:rPr>
              <a:t>Player name </a:t>
            </a:r>
          </a:p>
          <a:p>
            <a:pPr marL="0" indent="0" rtl="0" fontAlgn="base">
              <a:lnSpc>
                <a:spcPct val="100000"/>
              </a:lnSpc>
              <a:spcBef>
                <a:spcPts val="0"/>
              </a:spcBef>
              <a:buFont typeface="Arial" panose="020B0604020202020204" pitchFamily="34" charset="0"/>
              <a:buChar char="•"/>
            </a:pPr>
            <a:r>
              <a:rPr lang="en-GB" sz="2000" i="0" dirty="0">
                <a:solidFill>
                  <a:schemeClr val="bg1"/>
                </a:solidFill>
                <a:effectLst/>
                <a:latin typeface="Aptos" panose="020B0604020202020204" pitchFamily="34" charset="0"/>
              </a:rPr>
              <a:t>Team / Squad </a:t>
            </a:r>
          </a:p>
          <a:p>
            <a:pPr marL="0" indent="0" rtl="0" fontAlgn="base">
              <a:lnSpc>
                <a:spcPct val="100000"/>
              </a:lnSpc>
              <a:spcBef>
                <a:spcPts val="0"/>
              </a:spcBef>
              <a:buFont typeface="Arial" panose="020B0604020202020204" pitchFamily="34" charset="0"/>
              <a:buChar char="•"/>
            </a:pPr>
            <a:r>
              <a:rPr lang="en-GB" sz="2000" i="0" dirty="0">
                <a:solidFill>
                  <a:schemeClr val="bg1"/>
                </a:solidFill>
                <a:effectLst/>
                <a:latin typeface="Aptos" panose="020B0604020202020204" pitchFamily="34" charset="0"/>
              </a:rPr>
              <a:t>Competition (League) </a:t>
            </a:r>
          </a:p>
          <a:p>
            <a:pPr marL="0" indent="0" rtl="0" fontAlgn="base">
              <a:lnSpc>
                <a:spcPct val="100000"/>
              </a:lnSpc>
              <a:spcBef>
                <a:spcPts val="0"/>
              </a:spcBef>
              <a:buFont typeface="Arial" panose="020B0604020202020204" pitchFamily="34" charset="0"/>
              <a:buChar char="•"/>
            </a:pPr>
            <a:r>
              <a:rPr lang="en-GB" sz="2000" i="0" dirty="0">
                <a:solidFill>
                  <a:schemeClr val="bg1"/>
                </a:solidFill>
                <a:effectLst/>
                <a:latin typeface="Aptos" panose="020B0604020202020204" pitchFamily="34" charset="0"/>
              </a:rPr>
              <a:t>Goals scored </a:t>
            </a:r>
          </a:p>
          <a:p>
            <a:pPr marL="0" indent="0" rtl="0" fontAlgn="base">
              <a:lnSpc>
                <a:spcPct val="100000"/>
              </a:lnSpc>
              <a:spcBef>
                <a:spcPts val="0"/>
              </a:spcBef>
              <a:buFont typeface="Arial" panose="020B0604020202020204" pitchFamily="34" charset="0"/>
              <a:buChar char="•"/>
            </a:pPr>
            <a:r>
              <a:rPr lang="en-GB" sz="2000" i="0" dirty="0">
                <a:solidFill>
                  <a:schemeClr val="bg1"/>
                </a:solidFill>
                <a:effectLst/>
                <a:latin typeface="Aptos" panose="020B0604020202020204" pitchFamily="34" charset="0"/>
              </a:rPr>
              <a:t>Assists</a:t>
            </a:r>
            <a:endParaRPr lang="en-GB" sz="2000" dirty="0">
              <a:solidFill>
                <a:schemeClr val="bg1"/>
              </a:solidFill>
              <a:latin typeface="Aptos" panose="020B0604020202020204" pitchFamily="34" charset="0"/>
            </a:endParaRPr>
          </a:p>
          <a:p>
            <a:pPr marL="0" indent="0" rtl="0" fontAlgn="base">
              <a:lnSpc>
                <a:spcPct val="100000"/>
              </a:lnSpc>
              <a:spcBef>
                <a:spcPts val="0"/>
              </a:spcBef>
              <a:buFont typeface="Arial" panose="020B0604020202020204" pitchFamily="34" charset="0"/>
              <a:buChar char="•"/>
            </a:pPr>
            <a:r>
              <a:rPr lang="en-GB" sz="2000" i="0" dirty="0">
                <a:solidFill>
                  <a:schemeClr val="bg1"/>
                </a:solidFill>
                <a:effectLst/>
                <a:latin typeface="Aptos" panose="020B0604020202020204" pitchFamily="34" charset="0"/>
              </a:rPr>
              <a:t>Matches Played (MP) </a:t>
            </a:r>
          </a:p>
          <a:p>
            <a:pPr marL="0" indent="0" rtl="0" fontAlgn="base">
              <a:lnSpc>
                <a:spcPct val="100000"/>
              </a:lnSpc>
              <a:spcBef>
                <a:spcPts val="0"/>
              </a:spcBef>
              <a:buFont typeface="Arial" panose="020B0604020202020204" pitchFamily="34" charset="0"/>
              <a:buChar char="•"/>
            </a:pPr>
            <a:r>
              <a:rPr lang="en-GB" sz="2000" i="0" dirty="0">
                <a:solidFill>
                  <a:schemeClr val="bg1"/>
                </a:solidFill>
                <a:effectLst/>
                <a:latin typeface="Aptos" panose="020B0604020202020204" pitchFamily="34" charset="0"/>
              </a:rPr>
              <a:t>Player Position </a:t>
            </a:r>
          </a:p>
          <a:p>
            <a:pPr marL="0" indent="0" rtl="0" fontAlgn="base">
              <a:lnSpc>
                <a:spcPct val="100000"/>
              </a:lnSpc>
              <a:spcBef>
                <a:spcPts val="0"/>
              </a:spcBef>
              <a:buFont typeface="Arial" panose="020B0604020202020204" pitchFamily="34" charset="0"/>
              <a:buChar char="•"/>
            </a:pPr>
            <a:r>
              <a:rPr lang="en-GB" sz="2000" i="0" dirty="0">
                <a:solidFill>
                  <a:schemeClr val="bg1"/>
                </a:solidFill>
                <a:effectLst/>
                <a:latin typeface="Aptos" panose="020B0604020202020204" pitchFamily="34" charset="0"/>
              </a:rPr>
              <a:t>Age </a:t>
            </a:r>
          </a:p>
          <a:p>
            <a:pPr marL="0" indent="0" rtl="0" fontAlgn="base">
              <a:buNone/>
            </a:pPr>
            <a:r>
              <a:rPr lang="en-GB" sz="2000" b="1" i="0" dirty="0">
                <a:solidFill>
                  <a:srgbClr val="FFFF00"/>
                </a:solidFill>
                <a:effectLst/>
                <a:latin typeface="Aptos" panose="020B0604020202020204" pitchFamily="34" charset="0"/>
              </a:rPr>
              <a:t>A total of: </a:t>
            </a:r>
            <a:endParaRPr lang="en-GB" sz="2000" b="1" i="0" dirty="0">
              <a:solidFill>
                <a:srgbClr val="FFFF00"/>
              </a:solidFill>
              <a:effectLst/>
              <a:latin typeface="Segoe UI" panose="020B0502040204020203" pitchFamily="34" charset="0"/>
            </a:endParaRPr>
          </a:p>
          <a:p>
            <a:pPr marL="0" indent="0" rtl="0" fontAlgn="base">
              <a:lnSpc>
                <a:spcPct val="100000"/>
              </a:lnSpc>
              <a:spcBef>
                <a:spcPts val="0"/>
              </a:spcBef>
              <a:buFont typeface="Arial" panose="020B0604020202020204" pitchFamily="34" charset="0"/>
              <a:buChar char="•"/>
            </a:pPr>
            <a:r>
              <a:rPr lang="en-GB" sz="2000" i="0" dirty="0">
                <a:solidFill>
                  <a:schemeClr val="bg1"/>
                </a:solidFill>
                <a:effectLst/>
                <a:latin typeface="Aptos" panose="020B0604020202020204" pitchFamily="34" charset="0"/>
              </a:rPr>
              <a:t>671 goals scored </a:t>
            </a:r>
          </a:p>
          <a:p>
            <a:pPr marL="0" indent="0" rtl="0" fontAlgn="base">
              <a:lnSpc>
                <a:spcPct val="100000"/>
              </a:lnSpc>
              <a:spcBef>
                <a:spcPts val="0"/>
              </a:spcBef>
              <a:buFont typeface="Arial" panose="020B0604020202020204" pitchFamily="34" charset="0"/>
              <a:buChar char="•"/>
            </a:pPr>
            <a:r>
              <a:rPr lang="en-GB" sz="2000" i="0" dirty="0">
                <a:solidFill>
                  <a:schemeClr val="bg1"/>
                </a:solidFill>
                <a:effectLst/>
                <a:latin typeface="Aptos" panose="020B0604020202020204" pitchFamily="34" charset="0"/>
              </a:rPr>
              <a:t>542 assists </a:t>
            </a:r>
          </a:p>
          <a:p>
            <a:pPr marL="0" indent="0" rtl="0" fontAlgn="base">
              <a:lnSpc>
                <a:spcPct val="100000"/>
              </a:lnSpc>
              <a:spcBef>
                <a:spcPts val="0"/>
              </a:spcBef>
            </a:pPr>
            <a:r>
              <a:rPr lang="en-GB" sz="2000" i="0" dirty="0">
                <a:solidFill>
                  <a:schemeClr val="bg1"/>
                </a:solidFill>
                <a:effectLst/>
                <a:latin typeface="Aptos" panose="020B0604020202020204" pitchFamily="34" charset="0"/>
              </a:rPr>
              <a:t>The dataset enables both individual-level and league-level performance comparisons. </a:t>
            </a:r>
            <a:endParaRPr lang="en-GB" sz="2000" i="0" dirty="0">
              <a:solidFill>
                <a:schemeClr val="bg1"/>
              </a:solidFill>
              <a:effectLst/>
              <a:latin typeface="Segoe UI" panose="020B0502040204020203" pitchFamily="34" charset="0"/>
            </a:endParaRPr>
          </a:p>
          <a:p>
            <a:pPr marL="0" indent="0" rtl="0" fontAlgn="base">
              <a:lnSpc>
                <a:spcPct val="100000"/>
              </a:lnSpc>
              <a:spcBef>
                <a:spcPts val="0"/>
              </a:spcBef>
              <a:buNone/>
            </a:pPr>
            <a:endParaRPr lang="en-GB" sz="2000" b="0" i="0" dirty="0">
              <a:solidFill>
                <a:schemeClr val="bg1"/>
              </a:solidFill>
              <a:effectLst/>
              <a:latin typeface="Aptos" panose="020B0604020202020204" pitchFamily="34" charset="0"/>
            </a:endParaRPr>
          </a:p>
          <a:p>
            <a:pPr marL="0" indent="0">
              <a:buNone/>
            </a:pPr>
            <a:endParaRPr lang="en-US" sz="2000" dirty="0">
              <a:solidFill>
                <a:schemeClr val="bg1"/>
              </a:solidFill>
            </a:endParaRPr>
          </a:p>
          <a:p>
            <a:pPr marL="0" indent="0">
              <a:buNone/>
            </a:pPr>
            <a:endParaRPr lang="en-US" sz="2000" dirty="0">
              <a:solidFill>
                <a:schemeClr val="bg1"/>
              </a:solidFill>
            </a:endParaRPr>
          </a:p>
        </p:txBody>
      </p:sp>
      <p:sp>
        <p:nvSpPr>
          <p:cNvPr id="2" name="Title 1">
            <a:extLst>
              <a:ext uri="{FF2B5EF4-FFF2-40B4-BE49-F238E27FC236}">
                <a16:creationId xmlns:a16="http://schemas.microsoft.com/office/drawing/2014/main" id="{EC31C321-95A0-D24B-77E3-85541678B8FA}"/>
              </a:ext>
            </a:extLst>
          </p:cNvPr>
          <p:cNvSpPr>
            <a:spLocks noGrp="1"/>
          </p:cNvSpPr>
          <p:nvPr>
            <p:ph type="title"/>
          </p:nvPr>
        </p:nvSpPr>
        <p:spPr>
          <a:xfrm>
            <a:off x="7324725" y="3838575"/>
            <a:ext cx="3790950" cy="1543051"/>
          </a:xfrm>
        </p:spPr>
        <p:txBody>
          <a:bodyPr>
            <a:normAutofit/>
          </a:bodyPr>
          <a:lstStyle/>
          <a:p>
            <a:r>
              <a:rPr lang="en-US" dirty="0">
                <a:solidFill>
                  <a:srgbClr val="00B050"/>
                </a:solidFill>
                <a:latin typeface="Arial Black" panose="020B0A04020102020204" pitchFamily="34" charset="0"/>
              </a:rPr>
              <a:t>Dataset Description</a:t>
            </a:r>
          </a:p>
        </p:txBody>
      </p:sp>
    </p:spTree>
    <p:extLst>
      <p:ext uri="{BB962C8B-B14F-4D97-AF65-F5344CB8AC3E}">
        <p14:creationId xmlns:p14="http://schemas.microsoft.com/office/powerpoint/2010/main" val="3471689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10FF23-1EF5-1E72-6A3C-03448653CEA1}"/>
              </a:ext>
            </a:extLst>
          </p:cNvPr>
          <p:cNvSpPr/>
          <p:nvPr/>
        </p:nvSpPr>
        <p:spPr>
          <a:xfrm>
            <a:off x="0" y="0"/>
            <a:ext cx="12192000" cy="1495425"/>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22467E-46C3-F447-8A2E-009290643528}"/>
              </a:ext>
            </a:extLst>
          </p:cNvPr>
          <p:cNvSpPr>
            <a:spLocks noGrp="1"/>
          </p:cNvSpPr>
          <p:nvPr>
            <p:ph type="title"/>
          </p:nvPr>
        </p:nvSpPr>
        <p:spPr>
          <a:xfrm>
            <a:off x="838200" y="642937"/>
            <a:ext cx="2571750" cy="568325"/>
          </a:xfrm>
          <a:noFill/>
        </p:spPr>
        <p:txBody>
          <a:bodyPr>
            <a:normAutofit fontScale="90000"/>
          </a:bodyPr>
          <a:lstStyle/>
          <a:p>
            <a:r>
              <a:rPr lang="en-GB" b="1" i="0" dirty="0">
                <a:solidFill>
                  <a:schemeClr val="bg1"/>
                </a:solidFill>
                <a:effectLst/>
                <a:latin typeface="WordVisi_MSFontService"/>
              </a:rPr>
              <a:t>Objectives</a:t>
            </a:r>
            <a:endParaRPr lang="en-US" dirty="0">
              <a:solidFill>
                <a:schemeClr val="bg1"/>
              </a:solidFill>
            </a:endParaRPr>
          </a:p>
        </p:txBody>
      </p:sp>
      <p:sp>
        <p:nvSpPr>
          <p:cNvPr id="3" name="Content Placeholder 2">
            <a:extLst>
              <a:ext uri="{FF2B5EF4-FFF2-40B4-BE49-F238E27FC236}">
                <a16:creationId xmlns:a16="http://schemas.microsoft.com/office/drawing/2014/main" id="{618777C3-DF88-5CE7-DDEB-5C413C8B99F3}"/>
              </a:ext>
            </a:extLst>
          </p:cNvPr>
          <p:cNvSpPr>
            <a:spLocks noGrp="1"/>
          </p:cNvSpPr>
          <p:nvPr>
            <p:ph idx="1"/>
          </p:nvPr>
        </p:nvSpPr>
        <p:spPr/>
        <p:txBody>
          <a:bodyPr/>
          <a:lstStyle/>
          <a:p>
            <a:pPr marL="0" indent="0" algn="l" rtl="0" fontAlgn="base">
              <a:buNone/>
            </a:pPr>
            <a:r>
              <a:rPr lang="en-GB" sz="1800" b="0" i="0" dirty="0">
                <a:solidFill>
                  <a:srgbClr val="00B050"/>
                </a:solidFill>
                <a:effectLst/>
                <a:latin typeface="Aptos" panose="020B0004020202020204" pitchFamily="34" charset="0"/>
              </a:rPr>
              <a:t>The main objectives of the project are: </a:t>
            </a:r>
            <a:endParaRPr lang="en-GB" b="0" i="0" dirty="0">
              <a:solidFill>
                <a:srgbClr val="00B050"/>
              </a:solidFill>
              <a:effectLst/>
              <a:latin typeface="Segoe UI" panose="020B0502040204020203" pitchFamily="34" charset="0"/>
            </a:endParaRPr>
          </a:p>
          <a:p>
            <a:pPr algn="l" rtl="0" fontAlgn="base">
              <a:buFont typeface="+mj-lt"/>
              <a:buAutoNum type="arabicPeriod"/>
            </a:pPr>
            <a:r>
              <a:rPr lang="en-GB" sz="1800" b="1" i="0" dirty="0" err="1">
                <a:solidFill>
                  <a:srgbClr val="00B050"/>
                </a:solidFill>
                <a:effectLst/>
                <a:latin typeface="Aptos" panose="020B0004020202020204" pitchFamily="34" charset="0"/>
              </a:rPr>
              <a:t>Analyze</a:t>
            </a:r>
            <a:r>
              <a:rPr lang="en-GB" sz="1800" b="1" i="0" dirty="0">
                <a:solidFill>
                  <a:srgbClr val="00B050"/>
                </a:solidFill>
                <a:effectLst/>
                <a:latin typeface="Aptos" panose="020B0004020202020204" pitchFamily="34" charset="0"/>
              </a:rPr>
              <a:t> player performance</a:t>
            </a:r>
            <a:r>
              <a:rPr lang="en-GB" sz="1800" b="0" i="0" dirty="0">
                <a:solidFill>
                  <a:srgbClr val="00B050"/>
                </a:solidFill>
                <a:effectLst/>
                <a:latin typeface="Aptos" panose="020B0004020202020204" pitchFamily="34" charset="0"/>
              </a:rPr>
              <a:t> across the top European leagues using goals, assists, and match participation. </a:t>
            </a:r>
          </a:p>
          <a:p>
            <a:pPr algn="l" rtl="0" fontAlgn="base">
              <a:buFont typeface="+mj-lt"/>
              <a:buAutoNum type="arabicPeriod" startAt="2"/>
            </a:pPr>
            <a:r>
              <a:rPr lang="en-GB" sz="1800" b="1" i="0" dirty="0">
                <a:solidFill>
                  <a:srgbClr val="00B050"/>
                </a:solidFill>
                <a:effectLst/>
                <a:latin typeface="Aptos" panose="020B0004020202020204" pitchFamily="34" charset="0"/>
              </a:rPr>
              <a:t>Identify top scorers and assisters</a:t>
            </a:r>
            <a:r>
              <a:rPr lang="en-GB" sz="1800" b="0" i="0" dirty="0">
                <a:solidFill>
                  <a:srgbClr val="00B050"/>
                </a:solidFill>
                <a:effectLst/>
                <a:latin typeface="Aptos" panose="020B0004020202020204" pitchFamily="34" charset="0"/>
              </a:rPr>
              <a:t> based on aggregated season performance. </a:t>
            </a:r>
          </a:p>
          <a:p>
            <a:pPr algn="l" rtl="0" fontAlgn="base">
              <a:buFont typeface="+mj-lt"/>
              <a:buAutoNum type="arabicPeriod" startAt="3"/>
            </a:pPr>
            <a:r>
              <a:rPr lang="en-GB" sz="1800" b="1" i="0" dirty="0">
                <a:solidFill>
                  <a:srgbClr val="00B050"/>
                </a:solidFill>
                <a:effectLst/>
                <a:latin typeface="Aptos" panose="020B0004020202020204" pitchFamily="34" charset="0"/>
              </a:rPr>
              <a:t>Compare performance across leagues</a:t>
            </a:r>
            <a:r>
              <a:rPr lang="en-GB" sz="1800" b="0" i="0" dirty="0">
                <a:solidFill>
                  <a:srgbClr val="00B050"/>
                </a:solidFill>
                <a:effectLst/>
                <a:latin typeface="Aptos" panose="020B0004020202020204" pitchFamily="34" charset="0"/>
              </a:rPr>
              <a:t> to understand which competition had the highest offensive output. </a:t>
            </a:r>
          </a:p>
          <a:p>
            <a:pPr algn="l" rtl="0" fontAlgn="base">
              <a:buFont typeface="+mj-lt"/>
              <a:buAutoNum type="arabicPeriod" startAt="4"/>
            </a:pPr>
            <a:r>
              <a:rPr lang="en-GB" sz="1800" b="1" i="0" dirty="0">
                <a:solidFill>
                  <a:srgbClr val="00B050"/>
                </a:solidFill>
                <a:effectLst/>
                <a:latin typeface="Aptos" panose="020B0004020202020204" pitchFamily="34" charset="0"/>
              </a:rPr>
              <a:t>Evaluate team contributions</a:t>
            </a:r>
            <a:r>
              <a:rPr lang="en-GB" sz="1800" b="0" i="0" dirty="0">
                <a:solidFill>
                  <a:srgbClr val="00B050"/>
                </a:solidFill>
                <a:effectLst/>
                <a:latin typeface="Aptos" panose="020B0004020202020204" pitchFamily="34" charset="0"/>
              </a:rPr>
              <a:t> by visualizing goals and assists at the squad level. </a:t>
            </a:r>
          </a:p>
          <a:p>
            <a:pPr algn="l" rtl="0" fontAlgn="base">
              <a:buFont typeface="+mj-lt"/>
              <a:buAutoNum type="arabicPeriod" startAt="5"/>
            </a:pPr>
            <a:r>
              <a:rPr lang="en-GB" sz="1800" b="1" i="0" dirty="0">
                <a:solidFill>
                  <a:srgbClr val="00B050"/>
                </a:solidFill>
                <a:effectLst/>
                <a:latin typeface="Aptos" panose="020B0004020202020204" pitchFamily="34" charset="0"/>
              </a:rPr>
              <a:t>Build an interactive Power BI dashboard</a:t>
            </a:r>
            <a:r>
              <a:rPr lang="en-GB" sz="1800" b="0" i="0" dirty="0">
                <a:solidFill>
                  <a:srgbClr val="00B050"/>
                </a:solidFill>
                <a:effectLst/>
                <a:latin typeface="Aptos" panose="020B0004020202020204" pitchFamily="34" charset="0"/>
              </a:rPr>
              <a:t> to enable real-time filtering by player, team, and competition. </a:t>
            </a:r>
          </a:p>
          <a:p>
            <a:pPr algn="l" rtl="0" fontAlgn="base">
              <a:buFont typeface="+mj-lt"/>
              <a:buAutoNum type="arabicPeriod" startAt="6"/>
            </a:pPr>
            <a:r>
              <a:rPr lang="en-GB" sz="1800" b="1" i="0" dirty="0">
                <a:solidFill>
                  <a:srgbClr val="00B050"/>
                </a:solidFill>
                <a:effectLst/>
                <a:latin typeface="Aptos" panose="020B0004020202020204" pitchFamily="34" charset="0"/>
              </a:rPr>
              <a:t>Provide insights for performance scouting, reporting, or analytical decision-making.</a:t>
            </a:r>
            <a:r>
              <a:rPr lang="en-GB" sz="1800" b="0" i="0" dirty="0">
                <a:solidFill>
                  <a:srgbClr val="00B050"/>
                </a:solidFill>
                <a:effectLst/>
                <a:latin typeface="Aptos" panose="020B0004020202020204" pitchFamily="34" charset="0"/>
              </a:rPr>
              <a:t> </a:t>
            </a:r>
          </a:p>
          <a:p>
            <a:pPr marL="0" indent="0">
              <a:buNone/>
            </a:pPr>
            <a:endParaRPr lang="en-US" dirty="0">
              <a:solidFill>
                <a:srgbClr val="00B050"/>
              </a:solidFill>
            </a:endParaRPr>
          </a:p>
        </p:txBody>
      </p:sp>
    </p:spTree>
    <p:extLst>
      <p:ext uri="{BB962C8B-B14F-4D97-AF65-F5344CB8AC3E}">
        <p14:creationId xmlns:p14="http://schemas.microsoft.com/office/powerpoint/2010/main" val="2769292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0B455-5591-8982-27D3-E9D1833542C1}"/>
              </a:ext>
            </a:extLst>
          </p:cNvPr>
          <p:cNvSpPr>
            <a:spLocks noGrp="1"/>
          </p:cNvSpPr>
          <p:nvPr>
            <p:ph type="title"/>
          </p:nvPr>
        </p:nvSpPr>
        <p:spPr>
          <a:xfrm>
            <a:off x="838200" y="339246"/>
            <a:ext cx="10515600" cy="1325563"/>
          </a:xfrm>
        </p:spPr>
        <p:txBody>
          <a:bodyPr/>
          <a:lstStyle/>
          <a:p>
            <a:r>
              <a:rPr lang="en-GB" b="1" i="0" dirty="0">
                <a:solidFill>
                  <a:srgbClr val="00B050"/>
                </a:solidFill>
                <a:effectLst/>
                <a:latin typeface="WordVisi_MSFontService"/>
              </a:rPr>
              <a:t>Findings</a:t>
            </a:r>
            <a:endParaRPr lang="en-US" dirty="0">
              <a:solidFill>
                <a:srgbClr val="00B050"/>
              </a:solidFill>
            </a:endParaRPr>
          </a:p>
        </p:txBody>
      </p:sp>
      <p:sp>
        <p:nvSpPr>
          <p:cNvPr id="4" name="Rectangle 3">
            <a:extLst>
              <a:ext uri="{FF2B5EF4-FFF2-40B4-BE49-F238E27FC236}">
                <a16:creationId xmlns:a16="http://schemas.microsoft.com/office/drawing/2014/main" id="{E3442BAC-2748-55D0-B132-743988E080C2}"/>
              </a:ext>
            </a:extLst>
          </p:cNvPr>
          <p:cNvSpPr/>
          <p:nvPr/>
        </p:nvSpPr>
        <p:spPr>
          <a:xfrm>
            <a:off x="0" y="1447800"/>
            <a:ext cx="12192000" cy="54102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FC6BE33-0E72-129D-3E95-8D09ED1ABF83}"/>
              </a:ext>
            </a:extLst>
          </p:cNvPr>
          <p:cNvSpPr>
            <a:spLocks noGrp="1"/>
          </p:cNvSpPr>
          <p:nvPr>
            <p:ph idx="1"/>
          </p:nvPr>
        </p:nvSpPr>
        <p:spPr/>
        <p:txBody>
          <a:bodyPr numCol="2">
            <a:normAutofit fontScale="92500" lnSpcReduction="20000"/>
          </a:bodyPr>
          <a:lstStyle/>
          <a:p>
            <a:pPr marL="0" indent="0" algn="l" rtl="0" fontAlgn="base">
              <a:buNone/>
            </a:pPr>
            <a:r>
              <a:rPr lang="en-GB" sz="1800" b="1" i="0" dirty="0">
                <a:solidFill>
                  <a:srgbClr val="FFFF00"/>
                </a:solidFill>
                <a:effectLst/>
                <a:latin typeface="Aptos" panose="020B0004020202020204" pitchFamily="34" charset="0"/>
              </a:rPr>
              <a:t>Player Performance</a:t>
            </a:r>
            <a:r>
              <a:rPr lang="en-GB" sz="1800" b="0" i="0" dirty="0">
                <a:solidFill>
                  <a:srgbClr val="FFFF00"/>
                </a:solidFill>
                <a:effectLst/>
                <a:latin typeface="Aptos" panose="020B0004020202020204" pitchFamily="34" charset="0"/>
              </a:rPr>
              <a:t> </a:t>
            </a:r>
            <a:endParaRPr lang="en-GB" b="0" i="0" dirty="0">
              <a:solidFill>
                <a:srgbClr val="FFFF00"/>
              </a:solidFill>
              <a:effectLst/>
              <a:latin typeface="Segoe UI" panose="020B0502040204020203" pitchFamily="34" charset="0"/>
            </a:endParaRPr>
          </a:p>
          <a:p>
            <a:pPr algn="l" rtl="0" fontAlgn="base">
              <a:buFont typeface="Arial" panose="020B0604020202020204" pitchFamily="34" charset="0"/>
              <a:buChar char="•"/>
            </a:pPr>
            <a:r>
              <a:rPr lang="en-GB" sz="1800" b="1" i="0" dirty="0" err="1">
                <a:solidFill>
                  <a:schemeClr val="bg1"/>
                </a:solidFill>
                <a:effectLst/>
                <a:latin typeface="Aptos" panose="020B0004020202020204" pitchFamily="34" charset="0"/>
              </a:rPr>
              <a:t>Erling</a:t>
            </a:r>
            <a:r>
              <a:rPr lang="en-GB" sz="1800" b="1" i="0" dirty="0">
                <a:solidFill>
                  <a:schemeClr val="bg1"/>
                </a:solidFill>
                <a:effectLst/>
                <a:latin typeface="Aptos" panose="020B0004020202020204" pitchFamily="34" charset="0"/>
              </a:rPr>
              <a:t> </a:t>
            </a:r>
            <a:r>
              <a:rPr lang="en-GB" sz="1800" b="1" i="0" dirty="0" err="1">
                <a:solidFill>
                  <a:schemeClr val="bg1"/>
                </a:solidFill>
                <a:effectLst/>
                <a:latin typeface="Aptos" panose="020B0004020202020204" pitchFamily="34" charset="0"/>
              </a:rPr>
              <a:t>Haaland</a:t>
            </a:r>
            <a:r>
              <a:rPr lang="en-GB" sz="1800" b="0" i="0" dirty="0">
                <a:solidFill>
                  <a:schemeClr val="bg1"/>
                </a:solidFill>
                <a:effectLst/>
                <a:latin typeface="Aptos" panose="020B0004020202020204" pitchFamily="34" charset="0"/>
              </a:rPr>
              <a:t> emerged as the top scorer with </a:t>
            </a:r>
            <a:r>
              <a:rPr lang="en-GB" sz="1800" b="1" i="0" dirty="0">
                <a:solidFill>
                  <a:schemeClr val="bg1"/>
                </a:solidFill>
                <a:effectLst/>
                <a:latin typeface="Aptos" panose="020B0004020202020204" pitchFamily="34" charset="0"/>
              </a:rPr>
              <a:t>25 goals</a:t>
            </a:r>
            <a:r>
              <a:rPr lang="en-GB" sz="1800" b="0" i="0" dirty="0">
                <a:solidFill>
                  <a:schemeClr val="bg1"/>
                </a:solidFill>
                <a:effectLst/>
                <a:latin typeface="Aptos" panose="020B0004020202020204" pitchFamily="34" charset="0"/>
              </a:rPr>
              <a:t>, significantly ahead of other players. </a:t>
            </a:r>
          </a:p>
          <a:p>
            <a:pPr algn="l" rtl="0" fontAlgn="base">
              <a:buFont typeface="Arial" panose="020B0604020202020204" pitchFamily="34" charset="0"/>
              <a:buChar char="•"/>
            </a:pPr>
            <a:r>
              <a:rPr lang="en-GB" sz="1800" b="1" i="0" dirty="0">
                <a:solidFill>
                  <a:schemeClr val="bg1"/>
                </a:solidFill>
                <a:effectLst/>
                <a:latin typeface="Aptos" panose="020B0004020202020204" pitchFamily="34" charset="0"/>
              </a:rPr>
              <a:t>Gabriel </a:t>
            </a:r>
            <a:r>
              <a:rPr lang="en-GB" sz="1800" b="1" i="0" dirty="0" err="1">
                <a:solidFill>
                  <a:schemeClr val="bg1"/>
                </a:solidFill>
                <a:effectLst/>
                <a:latin typeface="Aptos" panose="020B0004020202020204" pitchFamily="34" charset="0"/>
              </a:rPr>
              <a:t>Vidović</a:t>
            </a:r>
            <a:r>
              <a:rPr lang="en-GB" sz="1800" b="0" i="0" dirty="0">
                <a:solidFill>
                  <a:schemeClr val="bg1"/>
                </a:solidFill>
                <a:effectLst/>
                <a:latin typeface="Aptos" panose="020B0004020202020204" pitchFamily="34" charset="0"/>
              </a:rPr>
              <a:t> and </a:t>
            </a:r>
            <a:r>
              <a:rPr lang="en-GB" sz="1800" b="1" i="0" dirty="0">
                <a:solidFill>
                  <a:schemeClr val="bg1"/>
                </a:solidFill>
                <a:effectLst/>
                <a:latin typeface="Aptos" panose="020B0004020202020204" pitchFamily="34" charset="0"/>
              </a:rPr>
              <a:t>Gianluca Gaetano</a:t>
            </a:r>
            <a:r>
              <a:rPr lang="en-GB" sz="1800" b="0" i="0" dirty="0">
                <a:solidFill>
                  <a:schemeClr val="bg1"/>
                </a:solidFill>
                <a:effectLst/>
                <a:latin typeface="Aptos" panose="020B0004020202020204" pitchFamily="34" charset="0"/>
              </a:rPr>
              <a:t> were among the leading assist providers. </a:t>
            </a:r>
          </a:p>
          <a:p>
            <a:pPr algn="l" rtl="0" fontAlgn="base">
              <a:buFont typeface="Arial" panose="020B0604020202020204" pitchFamily="34" charset="0"/>
              <a:buChar char="•"/>
            </a:pPr>
            <a:r>
              <a:rPr lang="en-GB" sz="1800" b="0" i="0" dirty="0">
                <a:solidFill>
                  <a:schemeClr val="bg1"/>
                </a:solidFill>
                <a:effectLst/>
                <a:latin typeface="Aptos" panose="020B0004020202020204" pitchFamily="34" charset="0"/>
              </a:rPr>
              <a:t>Players in the Premier League and Bundesliga showed higher scoring peaks compared to other leagues. </a:t>
            </a:r>
          </a:p>
          <a:p>
            <a:pPr marL="0" indent="0" algn="l" rtl="0" fontAlgn="base">
              <a:buNone/>
            </a:pPr>
            <a:endParaRPr lang="en-GB" sz="1800" b="1" i="0" dirty="0">
              <a:solidFill>
                <a:schemeClr val="bg1"/>
              </a:solidFill>
              <a:effectLst/>
              <a:latin typeface="Aptos" panose="020B0004020202020204" pitchFamily="34" charset="0"/>
            </a:endParaRPr>
          </a:p>
          <a:p>
            <a:pPr marL="0" indent="0" algn="l" rtl="0" fontAlgn="base">
              <a:buNone/>
            </a:pPr>
            <a:r>
              <a:rPr lang="en-GB" sz="1800" b="1" i="0" dirty="0">
                <a:solidFill>
                  <a:srgbClr val="FFFF00"/>
                </a:solidFill>
                <a:effectLst/>
                <a:latin typeface="Aptos" panose="020B0004020202020204" pitchFamily="34" charset="0"/>
              </a:rPr>
              <a:t>League Comparison</a:t>
            </a:r>
            <a:r>
              <a:rPr lang="en-GB" sz="1800" b="0" i="0" dirty="0">
                <a:solidFill>
                  <a:srgbClr val="FFFF00"/>
                </a:solidFill>
                <a:effectLst/>
                <a:latin typeface="Aptos" panose="020B0004020202020204" pitchFamily="34" charset="0"/>
              </a:rPr>
              <a:t> </a:t>
            </a:r>
            <a:endParaRPr lang="en-GB" sz="1200" b="0" i="0" dirty="0">
              <a:solidFill>
                <a:srgbClr val="FFFF00"/>
              </a:solidFill>
              <a:effectLst/>
              <a:latin typeface="Segoe UI" panose="020B0502040204020203" pitchFamily="34" charset="0"/>
            </a:endParaRPr>
          </a:p>
          <a:p>
            <a:pPr algn="l" rtl="0" fontAlgn="base">
              <a:buFont typeface="Arial" panose="020B0604020202020204" pitchFamily="34" charset="0"/>
              <a:buChar char="•"/>
            </a:pPr>
            <a:r>
              <a:rPr lang="en-GB" sz="1800" b="1" i="0" dirty="0">
                <a:solidFill>
                  <a:schemeClr val="bg1"/>
                </a:solidFill>
                <a:effectLst/>
                <a:latin typeface="Aptos" panose="020B0004020202020204" pitchFamily="34" charset="0"/>
              </a:rPr>
              <a:t>Premier League</a:t>
            </a:r>
            <a:r>
              <a:rPr lang="en-GB" sz="1800" b="0" i="0" dirty="0">
                <a:solidFill>
                  <a:schemeClr val="bg1"/>
                </a:solidFill>
                <a:effectLst/>
                <a:latin typeface="Aptos" panose="020B0004020202020204" pitchFamily="34" charset="0"/>
              </a:rPr>
              <a:t> recorded the </a:t>
            </a:r>
            <a:r>
              <a:rPr lang="en-GB" sz="1800" b="1" i="0" dirty="0">
                <a:solidFill>
                  <a:schemeClr val="bg1"/>
                </a:solidFill>
                <a:effectLst/>
                <a:latin typeface="Aptos" panose="020B0004020202020204" pitchFamily="34" charset="0"/>
              </a:rPr>
              <a:t>highest number of total goals (618)</a:t>
            </a:r>
            <a:r>
              <a:rPr lang="en-GB" sz="1800" b="0" i="0" dirty="0">
                <a:solidFill>
                  <a:schemeClr val="bg1"/>
                </a:solidFill>
                <a:effectLst/>
                <a:latin typeface="Aptos" panose="020B0004020202020204" pitchFamily="34" charset="0"/>
              </a:rPr>
              <a:t>. </a:t>
            </a:r>
          </a:p>
          <a:p>
            <a:pPr algn="l" rtl="0" fontAlgn="base">
              <a:buFont typeface="Arial" panose="020B0604020202020204" pitchFamily="34" charset="0"/>
              <a:buChar char="•"/>
            </a:pPr>
            <a:r>
              <a:rPr lang="en-GB" sz="1800" b="1" i="0" dirty="0">
                <a:solidFill>
                  <a:schemeClr val="bg1"/>
                </a:solidFill>
                <a:effectLst/>
                <a:latin typeface="Aptos" panose="020B0004020202020204" pitchFamily="34" charset="0"/>
              </a:rPr>
              <a:t>Bundesliga</a:t>
            </a:r>
            <a:r>
              <a:rPr lang="en-GB" sz="1800" b="0" i="0" dirty="0">
                <a:solidFill>
                  <a:schemeClr val="bg1"/>
                </a:solidFill>
                <a:effectLst/>
                <a:latin typeface="Aptos" panose="020B0004020202020204" pitchFamily="34" charset="0"/>
              </a:rPr>
              <a:t>, with </a:t>
            </a:r>
            <a:r>
              <a:rPr lang="en-GB" sz="1800" b="1" i="0" dirty="0">
                <a:solidFill>
                  <a:schemeClr val="bg1"/>
                </a:solidFill>
                <a:effectLst/>
                <a:latin typeface="Aptos" panose="020B0004020202020204" pitchFamily="34" charset="0"/>
              </a:rPr>
              <a:t>564 goals</a:t>
            </a:r>
            <a:r>
              <a:rPr lang="en-GB" sz="1800" b="0" i="0" dirty="0">
                <a:solidFill>
                  <a:schemeClr val="bg1"/>
                </a:solidFill>
                <a:effectLst/>
                <a:latin typeface="Aptos" panose="020B0004020202020204" pitchFamily="34" charset="0"/>
              </a:rPr>
              <a:t>, also demonstrated strong attacking performance. </a:t>
            </a:r>
          </a:p>
          <a:p>
            <a:pPr algn="l" rtl="0" fontAlgn="base">
              <a:buFont typeface="Arial" panose="020B0604020202020204" pitchFamily="34" charset="0"/>
              <a:buChar char="•"/>
            </a:pPr>
            <a:r>
              <a:rPr lang="en-GB" sz="1800" b="1" i="0" dirty="0">
                <a:solidFill>
                  <a:schemeClr val="bg1"/>
                </a:solidFill>
                <a:effectLst/>
                <a:latin typeface="Aptos" panose="020B0004020202020204" pitchFamily="34" charset="0"/>
              </a:rPr>
              <a:t>Ligue 1 and Serie A</a:t>
            </a:r>
            <a:r>
              <a:rPr lang="en-GB" sz="1800" b="0" i="0" dirty="0">
                <a:solidFill>
                  <a:schemeClr val="bg1"/>
                </a:solidFill>
                <a:effectLst/>
                <a:latin typeface="Aptos" panose="020B0004020202020204" pitchFamily="34" charset="0"/>
              </a:rPr>
              <a:t> had moderate scoring, while </a:t>
            </a:r>
            <a:r>
              <a:rPr lang="en-GB" sz="1800" b="1" i="0" dirty="0">
                <a:solidFill>
                  <a:schemeClr val="bg1"/>
                </a:solidFill>
                <a:effectLst/>
                <a:latin typeface="Aptos" panose="020B0004020202020204" pitchFamily="34" charset="0"/>
              </a:rPr>
              <a:t>La Liga</a:t>
            </a:r>
            <a:r>
              <a:rPr lang="en-GB" sz="1800" b="0" i="0" dirty="0">
                <a:solidFill>
                  <a:schemeClr val="bg1"/>
                </a:solidFill>
                <a:effectLst/>
                <a:latin typeface="Aptos" panose="020B0004020202020204" pitchFamily="34" charset="0"/>
              </a:rPr>
              <a:t> had comparatively fewer goals. </a:t>
            </a:r>
          </a:p>
          <a:p>
            <a:pPr marL="0" indent="0" algn="l" rtl="0" fontAlgn="base">
              <a:buNone/>
            </a:pPr>
            <a:endParaRPr lang="en-GB" sz="1800" b="1" i="0" dirty="0">
              <a:solidFill>
                <a:schemeClr val="bg1"/>
              </a:solidFill>
              <a:effectLst/>
              <a:latin typeface="Aptos" panose="020B0004020202020204" pitchFamily="34" charset="0"/>
            </a:endParaRPr>
          </a:p>
          <a:p>
            <a:pPr marL="0" indent="0" algn="l" rtl="0" fontAlgn="base">
              <a:buNone/>
            </a:pPr>
            <a:r>
              <a:rPr lang="en-GB" sz="1800" b="1" i="0" dirty="0">
                <a:solidFill>
                  <a:srgbClr val="FFFF00"/>
                </a:solidFill>
                <a:effectLst/>
                <a:latin typeface="Aptos" panose="020B0004020202020204" pitchFamily="34" charset="0"/>
              </a:rPr>
              <a:t>Team Performance</a:t>
            </a:r>
            <a:r>
              <a:rPr lang="en-GB" sz="1800" b="0" i="0" dirty="0">
                <a:solidFill>
                  <a:srgbClr val="FFFF00"/>
                </a:solidFill>
                <a:effectLst/>
                <a:latin typeface="Aptos" panose="020B0004020202020204" pitchFamily="34" charset="0"/>
              </a:rPr>
              <a:t> </a:t>
            </a:r>
            <a:endParaRPr lang="en-GB" sz="1200" b="0" i="0" dirty="0">
              <a:solidFill>
                <a:srgbClr val="FFFF00"/>
              </a:solidFill>
              <a:effectLst/>
              <a:latin typeface="Segoe UI" panose="020B0502040204020203" pitchFamily="34" charset="0"/>
            </a:endParaRPr>
          </a:p>
          <a:p>
            <a:pPr algn="l" rtl="0" fontAlgn="base">
              <a:buFont typeface="Arial" panose="020B0604020202020204" pitchFamily="34" charset="0"/>
              <a:buChar char="•"/>
            </a:pPr>
            <a:r>
              <a:rPr lang="en-GB" sz="1800" b="0" i="0" dirty="0">
                <a:solidFill>
                  <a:schemeClr val="bg1"/>
                </a:solidFill>
                <a:effectLst/>
                <a:latin typeface="Aptos" panose="020B0004020202020204" pitchFamily="34" charset="0"/>
              </a:rPr>
              <a:t>Several squads exhibited strong offensive output, with clear differences in goal and assist distributions. </a:t>
            </a:r>
          </a:p>
          <a:p>
            <a:pPr algn="l" rtl="0" fontAlgn="base">
              <a:buFont typeface="Arial" panose="020B0604020202020204" pitchFamily="34" charset="0"/>
              <a:buChar char="•"/>
            </a:pPr>
            <a:r>
              <a:rPr lang="en-GB" sz="1800" b="0" i="0" dirty="0">
                <a:solidFill>
                  <a:schemeClr val="bg1"/>
                </a:solidFill>
                <a:effectLst/>
                <a:latin typeface="Aptos" panose="020B0004020202020204" pitchFamily="34" charset="0"/>
              </a:rPr>
              <a:t>A few teams dominated in both goals and assists, indicating balanced attacking strategies. </a:t>
            </a:r>
          </a:p>
          <a:p>
            <a:pPr marL="0" indent="0" algn="l" rtl="0" fontAlgn="base">
              <a:buNone/>
            </a:pPr>
            <a:endParaRPr lang="en-GB" sz="1800" b="1" i="0" dirty="0">
              <a:solidFill>
                <a:schemeClr val="bg1"/>
              </a:solidFill>
              <a:effectLst/>
              <a:latin typeface="Aptos" panose="020B0004020202020204" pitchFamily="34" charset="0"/>
            </a:endParaRPr>
          </a:p>
          <a:p>
            <a:pPr marL="0" indent="0" algn="l" rtl="0" fontAlgn="base">
              <a:buNone/>
            </a:pPr>
            <a:r>
              <a:rPr lang="en-GB" sz="1800" b="1" i="0" dirty="0">
                <a:solidFill>
                  <a:srgbClr val="FFFF00"/>
                </a:solidFill>
                <a:effectLst/>
                <a:latin typeface="Aptos" panose="020B0004020202020204" pitchFamily="34" charset="0"/>
              </a:rPr>
              <a:t>Player Summary Trends</a:t>
            </a:r>
            <a:r>
              <a:rPr lang="en-GB" sz="1800" b="0" i="0" dirty="0">
                <a:solidFill>
                  <a:srgbClr val="FFFF00"/>
                </a:solidFill>
                <a:effectLst/>
                <a:latin typeface="Aptos" panose="020B0004020202020204" pitchFamily="34" charset="0"/>
              </a:rPr>
              <a:t> </a:t>
            </a:r>
            <a:endParaRPr lang="en-GB" sz="1200" b="0" i="0" dirty="0">
              <a:solidFill>
                <a:srgbClr val="FFFF00"/>
              </a:solidFill>
              <a:effectLst/>
              <a:latin typeface="Segoe UI" panose="020B0502040204020203" pitchFamily="34" charset="0"/>
            </a:endParaRPr>
          </a:p>
          <a:p>
            <a:pPr algn="l" rtl="0" fontAlgn="base">
              <a:buFont typeface="Arial" panose="020B0604020202020204" pitchFamily="34" charset="0"/>
              <a:buChar char="•"/>
            </a:pPr>
            <a:r>
              <a:rPr lang="en-GB" sz="1800" b="0" i="0" dirty="0">
                <a:solidFill>
                  <a:schemeClr val="bg1"/>
                </a:solidFill>
                <a:effectLst/>
                <a:latin typeface="Aptos" panose="020B0004020202020204" pitchFamily="34" charset="0"/>
              </a:rPr>
              <a:t>Younger players contributed notably in Bundesliga and Ligue 1. </a:t>
            </a:r>
          </a:p>
          <a:p>
            <a:pPr algn="l" rtl="0" fontAlgn="base">
              <a:buFont typeface="Arial" panose="020B0604020202020204" pitchFamily="34" charset="0"/>
              <a:buChar char="•"/>
            </a:pPr>
            <a:r>
              <a:rPr lang="en-GB" sz="1800" b="0" i="0" dirty="0">
                <a:solidFill>
                  <a:schemeClr val="bg1"/>
                </a:solidFill>
                <a:effectLst/>
                <a:latin typeface="Aptos" panose="020B0004020202020204" pitchFamily="34" charset="0"/>
              </a:rPr>
              <a:t>For most leagues, forwards (FWs) dominated goal contributions, while midfielders (MFs) led in assists. </a:t>
            </a:r>
          </a:p>
          <a:p>
            <a:pPr algn="l" rtl="0" fontAlgn="base">
              <a:buFont typeface="Arial" panose="020B0604020202020204" pitchFamily="34" charset="0"/>
              <a:buChar char="•"/>
            </a:pPr>
            <a:endParaRPr lang="en-GB" sz="1800" b="0" i="0" dirty="0">
              <a:solidFill>
                <a:schemeClr val="bg1"/>
              </a:solidFill>
              <a:effectLst/>
              <a:latin typeface="Aptos" panose="020B0004020202020204" pitchFamily="34" charset="0"/>
            </a:endParaRPr>
          </a:p>
          <a:p>
            <a:endParaRPr lang="en-US" dirty="0">
              <a:solidFill>
                <a:schemeClr val="bg1"/>
              </a:solidFill>
            </a:endParaRPr>
          </a:p>
        </p:txBody>
      </p:sp>
    </p:spTree>
    <p:extLst>
      <p:ext uri="{BB962C8B-B14F-4D97-AF65-F5344CB8AC3E}">
        <p14:creationId xmlns:p14="http://schemas.microsoft.com/office/powerpoint/2010/main" val="3739840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5990ACA-77BF-4C31-EE0E-1FC7AA797520}"/>
              </a:ext>
            </a:extLst>
          </p:cNvPr>
          <p:cNvSpPr/>
          <p:nvPr/>
        </p:nvSpPr>
        <p:spPr>
          <a:xfrm>
            <a:off x="0" y="0"/>
            <a:ext cx="12420600" cy="16002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22D7E81-15D9-9F91-7012-20A17572F93E}"/>
              </a:ext>
            </a:extLst>
          </p:cNvPr>
          <p:cNvSpPr>
            <a:spLocks noGrp="1"/>
          </p:cNvSpPr>
          <p:nvPr>
            <p:ph type="title"/>
          </p:nvPr>
        </p:nvSpPr>
        <p:spPr/>
        <p:txBody>
          <a:bodyPr/>
          <a:lstStyle/>
          <a:p>
            <a:r>
              <a:rPr lang="en-GB" b="1" i="0" dirty="0">
                <a:solidFill>
                  <a:schemeClr val="bg1"/>
                </a:solidFill>
                <a:effectLst/>
                <a:latin typeface="WordVisi_MSFontService"/>
              </a:rPr>
              <a:t>Conclusions</a:t>
            </a:r>
            <a:endParaRPr lang="en-US" b="1" dirty="0">
              <a:solidFill>
                <a:schemeClr val="bg1"/>
              </a:solidFill>
            </a:endParaRPr>
          </a:p>
        </p:txBody>
      </p:sp>
      <p:sp>
        <p:nvSpPr>
          <p:cNvPr id="3" name="Content Placeholder 2">
            <a:extLst>
              <a:ext uri="{FF2B5EF4-FFF2-40B4-BE49-F238E27FC236}">
                <a16:creationId xmlns:a16="http://schemas.microsoft.com/office/drawing/2014/main" id="{160C1E29-1C25-20E3-78F5-1DFC681524C3}"/>
              </a:ext>
            </a:extLst>
          </p:cNvPr>
          <p:cNvSpPr>
            <a:spLocks noGrp="1"/>
          </p:cNvSpPr>
          <p:nvPr>
            <p:ph idx="1"/>
          </p:nvPr>
        </p:nvSpPr>
        <p:spPr/>
        <p:txBody>
          <a:bodyPr/>
          <a:lstStyle/>
          <a:p>
            <a:pPr algn="l" rtl="0" fontAlgn="base">
              <a:buFont typeface="Arial" panose="020B0604020202020204" pitchFamily="34" charset="0"/>
              <a:buChar char="•"/>
            </a:pPr>
            <a:r>
              <a:rPr lang="en-GB" sz="1800" b="0" i="0" dirty="0">
                <a:solidFill>
                  <a:srgbClr val="00B050"/>
                </a:solidFill>
                <a:effectLst/>
                <a:latin typeface="Aptos" panose="020B0004020202020204" pitchFamily="34" charset="0"/>
              </a:rPr>
              <a:t>The analysis highlights that the </a:t>
            </a:r>
            <a:r>
              <a:rPr lang="en-GB" sz="1800" b="1" i="0" dirty="0">
                <a:solidFill>
                  <a:srgbClr val="00B050"/>
                </a:solidFill>
                <a:effectLst/>
                <a:latin typeface="Aptos" panose="020B0004020202020204" pitchFamily="34" charset="0"/>
              </a:rPr>
              <a:t>Premier League was the most offensively productive league</a:t>
            </a:r>
            <a:r>
              <a:rPr lang="en-GB" sz="1800" b="0" i="0" dirty="0">
                <a:solidFill>
                  <a:srgbClr val="00B050"/>
                </a:solidFill>
                <a:effectLst/>
                <a:latin typeface="Aptos" panose="020B0004020202020204" pitchFamily="34" charset="0"/>
              </a:rPr>
              <a:t> during the 2022–23 season. </a:t>
            </a:r>
          </a:p>
          <a:p>
            <a:pPr algn="l" rtl="0" fontAlgn="base">
              <a:buFont typeface="Arial" panose="020B0604020202020204" pitchFamily="34" charset="0"/>
              <a:buChar char="•"/>
            </a:pPr>
            <a:r>
              <a:rPr lang="en-GB" sz="1800" b="0" i="0" dirty="0">
                <a:solidFill>
                  <a:srgbClr val="00B050"/>
                </a:solidFill>
                <a:effectLst/>
                <a:latin typeface="Aptos" panose="020B0004020202020204" pitchFamily="34" charset="0"/>
              </a:rPr>
              <a:t>Individual performance was highly variable, with standout players like </a:t>
            </a:r>
            <a:r>
              <a:rPr lang="en-GB" sz="1800" b="0" i="0" dirty="0" err="1">
                <a:solidFill>
                  <a:srgbClr val="00B050"/>
                </a:solidFill>
                <a:effectLst/>
                <a:latin typeface="Aptos" panose="020B0004020202020204" pitchFamily="34" charset="0"/>
              </a:rPr>
              <a:t>Haaland</a:t>
            </a:r>
            <a:r>
              <a:rPr lang="en-GB" sz="1800" b="0" i="0" dirty="0">
                <a:solidFill>
                  <a:srgbClr val="00B050"/>
                </a:solidFill>
                <a:effectLst/>
                <a:latin typeface="Aptos" panose="020B0004020202020204" pitchFamily="34" charset="0"/>
              </a:rPr>
              <a:t> significantly outperforming peers. </a:t>
            </a:r>
          </a:p>
          <a:p>
            <a:pPr algn="l" rtl="0" fontAlgn="base">
              <a:buFont typeface="Arial" panose="020B0604020202020204" pitchFamily="34" charset="0"/>
              <a:buChar char="•"/>
            </a:pPr>
            <a:r>
              <a:rPr lang="en-GB" sz="1800" b="0" i="0" dirty="0">
                <a:solidFill>
                  <a:srgbClr val="00B050"/>
                </a:solidFill>
                <a:effectLst/>
                <a:latin typeface="Aptos" panose="020B0004020202020204" pitchFamily="34" charset="0"/>
              </a:rPr>
              <a:t>Team analyses show that offensive contributions are often concentrated among a few top squads. </a:t>
            </a:r>
          </a:p>
          <a:p>
            <a:pPr algn="l" rtl="0" fontAlgn="base">
              <a:buFont typeface="Arial" panose="020B0604020202020204" pitchFamily="34" charset="0"/>
              <a:buChar char="•"/>
            </a:pPr>
            <a:r>
              <a:rPr lang="en-GB" sz="1800" b="0" i="0" dirty="0">
                <a:solidFill>
                  <a:srgbClr val="00B050"/>
                </a:solidFill>
                <a:effectLst/>
                <a:latin typeface="Aptos" panose="020B0004020202020204" pitchFamily="34" charset="0"/>
              </a:rPr>
              <a:t>Power BI facilitated a comprehensive view of player metrics, enabling quick comparisons across leagues, squads, and individuals. </a:t>
            </a:r>
          </a:p>
          <a:p>
            <a:pPr algn="l" rtl="0" fontAlgn="base">
              <a:buFont typeface="Arial" panose="020B0604020202020204" pitchFamily="34" charset="0"/>
              <a:buChar char="•"/>
            </a:pPr>
            <a:r>
              <a:rPr lang="en-GB" sz="1800" b="0" i="0" dirty="0">
                <a:solidFill>
                  <a:srgbClr val="00B050"/>
                </a:solidFill>
                <a:effectLst/>
                <a:latin typeface="Aptos" panose="020B0004020202020204" pitchFamily="34" charset="0"/>
              </a:rPr>
              <a:t>The dashboard provides valuable insights for </a:t>
            </a:r>
            <a:r>
              <a:rPr lang="en-GB" sz="1800" b="1" i="0" dirty="0">
                <a:solidFill>
                  <a:srgbClr val="00B050"/>
                </a:solidFill>
                <a:effectLst/>
                <a:latin typeface="Aptos" panose="020B0004020202020204" pitchFamily="34" charset="0"/>
              </a:rPr>
              <a:t>talent evaluation, scouting, performance analysis</a:t>
            </a:r>
            <a:r>
              <a:rPr lang="en-GB" sz="1800" b="0" i="0" dirty="0">
                <a:solidFill>
                  <a:srgbClr val="00B050"/>
                </a:solidFill>
                <a:effectLst/>
                <a:latin typeface="Aptos" panose="020B0004020202020204" pitchFamily="34" charset="0"/>
              </a:rPr>
              <a:t>, and football analytics research. </a:t>
            </a:r>
          </a:p>
        </p:txBody>
      </p:sp>
    </p:spTree>
    <p:extLst>
      <p:ext uri="{BB962C8B-B14F-4D97-AF65-F5344CB8AC3E}">
        <p14:creationId xmlns:p14="http://schemas.microsoft.com/office/powerpoint/2010/main" val="307528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36FCCC-7962-9AFE-74AA-FAAD3AF2289E}"/>
              </a:ext>
            </a:extLst>
          </p:cNvPr>
          <p:cNvSpPr>
            <a:spLocks noGrp="1"/>
          </p:cNvSpPr>
          <p:nvPr>
            <p:ph idx="1"/>
          </p:nvPr>
        </p:nvSpPr>
        <p:spPr>
          <a:xfrm>
            <a:off x="838200" y="2868282"/>
            <a:ext cx="10515600" cy="1121435"/>
          </a:xfrm>
        </p:spPr>
        <p:txBody>
          <a:bodyPr>
            <a:normAutofit/>
          </a:bodyPr>
          <a:lstStyle/>
          <a:p>
            <a:pPr marL="0" indent="0" algn="ctr">
              <a:buNone/>
            </a:pPr>
            <a:r>
              <a:rPr lang="en-GB" sz="7200" b="1" i="0" dirty="0">
                <a:solidFill>
                  <a:srgbClr val="00B050"/>
                </a:solidFill>
                <a:effectLst/>
                <a:latin typeface="WordVisi_MSFontService"/>
              </a:rPr>
              <a:t>Thank You</a:t>
            </a:r>
            <a:endParaRPr lang="en-US" sz="7200" dirty="0">
              <a:solidFill>
                <a:srgbClr val="00B050"/>
              </a:solidFill>
            </a:endParaRPr>
          </a:p>
        </p:txBody>
      </p:sp>
    </p:spTree>
    <p:extLst>
      <p:ext uri="{BB962C8B-B14F-4D97-AF65-F5344CB8AC3E}">
        <p14:creationId xmlns:p14="http://schemas.microsoft.com/office/powerpoint/2010/main" val="27492368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TotalTime>
  <Words>519</Words>
  <Application>Microsoft Office PowerPoint</Application>
  <PresentationFormat>Widescreen</PresentationFormat>
  <Paragraphs>62</Paragraphs>
  <Slides>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Aptos</vt:lpstr>
      <vt:lpstr>Arial</vt:lpstr>
      <vt:lpstr>Arial Black</vt:lpstr>
      <vt:lpstr>Calibri</vt:lpstr>
      <vt:lpstr>Calibri Light</vt:lpstr>
      <vt:lpstr>Courier New</vt:lpstr>
      <vt:lpstr>Segoe UI</vt:lpstr>
      <vt:lpstr>WordVisi_MSFontService</vt:lpstr>
      <vt:lpstr>Office Theme</vt:lpstr>
      <vt:lpstr>Football Player  Performance Analysis</vt:lpstr>
      <vt:lpstr>Introduction</vt:lpstr>
      <vt:lpstr>Dataset Description</vt:lpstr>
      <vt:lpstr>Objectives</vt:lpstr>
      <vt:lpstr>Findings</vt:lpstr>
      <vt:lpstr>Conclusions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Football Player  Performance Analysis</dc:title>
  <dc:creator>Anshad PP</dc:creator>
  <cp:lastModifiedBy>Anshad PP</cp:lastModifiedBy>
  <cp:revision>4</cp:revision>
  <dcterms:created xsi:type="dcterms:W3CDTF">2025-12-05T10:47:43Z</dcterms:created>
  <dcterms:modified xsi:type="dcterms:W3CDTF">2025-12-05T14:31:04Z</dcterms:modified>
</cp:coreProperties>
</file>